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82" r:id="rId4"/>
    <p:sldId id="258" r:id="rId5"/>
    <p:sldId id="259" r:id="rId6"/>
    <p:sldId id="269" r:id="rId7"/>
    <p:sldId id="275" r:id="rId8"/>
    <p:sldId id="272" r:id="rId9"/>
    <p:sldId id="283" r:id="rId10"/>
    <p:sldId id="260" r:id="rId11"/>
    <p:sldId id="265" r:id="rId12"/>
    <p:sldId id="277" r:id="rId13"/>
    <p:sldId id="279" r:id="rId14"/>
    <p:sldId id="280" r:id="rId15"/>
    <p:sldId id="266" r:id="rId16"/>
    <p:sldId id="267" r:id="rId17"/>
    <p:sldId id="268" r:id="rId18"/>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60255F-B333-4C40-A627-0EF9C7820035}" v="1" dt="2024-05-29T01:46:31.932"/>
    <p1510:client id="{73B4325D-0B4E-9A46-FF06-1DE886A07810}" v="532" dt="2024-05-29T01:33:05.0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65" autoAdjust="0"/>
    <p:restoredTop sz="94660"/>
  </p:normalViewPr>
  <p:slideViewPr>
    <p:cSldViewPr snapToGrid="0">
      <p:cViewPr varScale="1">
        <p:scale>
          <a:sx n="112" d="100"/>
          <a:sy n="112" d="100"/>
        </p:scale>
        <p:origin x="32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D93D3F3-D48C-4D4D-9705-99773EA1BA99}" type="doc">
      <dgm:prSet loTypeId="urn:microsoft.com/office/officeart/2005/8/layout/list1" loCatId="list" qsTypeId="urn:microsoft.com/office/officeart/2005/8/quickstyle/simple4" qsCatId="simple" csTypeId="urn:microsoft.com/office/officeart/2005/8/colors/colorful5" csCatId="colorful"/>
      <dgm:spPr/>
      <dgm:t>
        <a:bodyPr/>
        <a:lstStyle/>
        <a:p>
          <a:endParaRPr lang="en-US"/>
        </a:p>
      </dgm:t>
    </dgm:pt>
    <dgm:pt modelId="{D411FF4C-5335-419B-9A69-9B410EDDF66B}">
      <dgm:prSet/>
      <dgm:spPr/>
      <dgm:t>
        <a:bodyPr/>
        <a:lstStyle/>
        <a:p>
          <a:r>
            <a:rPr lang="en-GB"/>
            <a:t>• Phishing</a:t>
          </a:r>
          <a:endParaRPr lang="en-US"/>
        </a:p>
      </dgm:t>
    </dgm:pt>
    <dgm:pt modelId="{9823260D-A920-46EB-AF6E-F2A669578A91}" type="parTrans" cxnId="{1E9B14F1-8D94-4937-B12C-67CBE207CB5A}">
      <dgm:prSet/>
      <dgm:spPr/>
      <dgm:t>
        <a:bodyPr/>
        <a:lstStyle/>
        <a:p>
          <a:endParaRPr lang="en-US"/>
        </a:p>
      </dgm:t>
    </dgm:pt>
    <dgm:pt modelId="{65C33E6A-A48B-49EB-94FC-87B74DBCAF59}" type="sibTrans" cxnId="{1E9B14F1-8D94-4937-B12C-67CBE207CB5A}">
      <dgm:prSet/>
      <dgm:spPr/>
      <dgm:t>
        <a:bodyPr/>
        <a:lstStyle/>
        <a:p>
          <a:endParaRPr lang="en-US"/>
        </a:p>
      </dgm:t>
    </dgm:pt>
    <dgm:pt modelId="{CA2894EE-0D5A-4659-B58E-CE20D2A50118}">
      <dgm:prSet/>
      <dgm:spPr/>
      <dgm:t>
        <a:bodyPr/>
        <a:lstStyle/>
        <a:p>
          <a:r>
            <a:rPr lang="en-GB"/>
            <a:t>• Frauds</a:t>
          </a:r>
          <a:endParaRPr lang="en-US"/>
        </a:p>
      </dgm:t>
    </dgm:pt>
    <dgm:pt modelId="{41D4CF96-1BE4-4896-AE05-62DFCD85A3DF}" type="parTrans" cxnId="{1ADF87F3-1ACB-4F25-B148-4C6E3956F038}">
      <dgm:prSet/>
      <dgm:spPr/>
      <dgm:t>
        <a:bodyPr/>
        <a:lstStyle/>
        <a:p>
          <a:endParaRPr lang="en-US"/>
        </a:p>
      </dgm:t>
    </dgm:pt>
    <dgm:pt modelId="{A07975AB-222D-4C78-85DD-D4F2B6AE3347}" type="sibTrans" cxnId="{1ADF87F3-1ACB-4F25-B148-4C6E3956F038}">
      <dgm:prSet/>
      <dgm:spPr/>
      <dgm:t>
        <a:bodyPr/>
        <a:lstStyle/>
        <a:p>
          <a:endParaRPr lang="en-US"/>
        </a:p>
      </dgm:t>
    </dgm:pt>
    <dgm:pt modelId="{CF2F2C1B-DDD4-4751-8539-9EBDE81B0844}">
      <dgm:prSet/>
      <dgm:spPr/>
      <dgm:t>
        <a:bodyPr/>
        <a:lstStyle/>
        <a:p>
          <a:r>
            <a:rPr lang="en-GB"/>
            <a:t>• Proper crediting</a:t>
          </a:r>
          <a:endParaRPr lang="en-US"/>
        </a:p>
      </dgm:t>
    </dgm:pt>
    <dgm:pt modelId="{B5F4E967-2C99-4F83-80B2-8ED24F34C8F2}" type="parTrans" cxnId="{694E0B34-86A8-40DD-A0A9-E955966154D9}">
      <dgm:prSet/>
      <dgm:spPr/>
      <dgm:t>
        <a:bodyPr/>
        <a:lstStyle/>
        <a:p>
          <a:endParaRPr lang="en-US"/>
        </a:p>
      </dgm:t>
    </dgm:pt>
    <dgm:pt modelId="{37224DE8-3D4E-4844-87A4-3E9CB7F7B845}" type="sibTrans" cxnId="{694E0B34-86A8-40DD-A0A9-E955966154D9}">
      <dgm:prSet/>
      <dgm:spPr/>
      <dgm:t>
        <a:bodyPr/>
        <a:lstStyle/>
        <a:p>
          <a:endParaRPr lang="en-US"/>
        </a:p>
      </dgm:t>
    </dgm:pt>
    <dgm:pt modelId="{24C905E1-077A-488D-BBB0-CD9A59DE42AF}" type="pres">
      <dgm:prSet presAssocID="{8D93D3F3-D48C-4D4D-9705-99773EA1BA99}" presName="linear" presStyleCnt="0">
        <dgm:presLayoutVars>
          <dgm:dir/>
          <dgm:animLvl val="lvl"/>
          <dgm:resizeHandles val="exact"/>
        </dgm:presLayoutVars>
      </dgm:prSet>
      <dgm:spPr/>
    </dgm:pt>
    <dgm:pt modelId="{47E1D809-C50A-4AD2-80E7-321801EC87D8}" type="pres">
      <dgm:prSet presAssocID="{D411FF4C-5335-419B-9A69-9B410EDDF66B}" presName="parentLin" presStyleCnt="0"/>
      <dgm:spPr/>
    </dgm:pt>
    <dgm:pt modelId="{04EF05B9-E13D-4ED4-B816-14BA8975132D}" type="pres">
      <dgm:prSet presAssocID="{D411FF4C-5335-419B-9A69-9B410EDDF66B}" presName="parentLeftMargin" presStyleLbl="node1" presStyleIdx="0" presStyleCnt="3"/>
      <dgm:spPr/>
    </dgm:pt>
    <dgm:pt modelId="{BF1B6F26-CDC4-4CEC-AB0B-417FA947479E}" type="pres">
      <dgm:prSet presAssocID="{D411FF4C-5335-419B-9A69-9B410EDDF66B}" presName="parentText" presStyleLbl="node1" presStyleIdx="0" presStyleCnt="3">
        <dgm:presLayoutVars>
          <dgm:chMax val="0"/>
          <dgm:bulletEnabled val="1"/>
        </dgm:presLayoutVars>
      </dgm:prSet>
      <dgm:spPr/>
    </dgm:pt>
    <dgm:pt modelId="{91C5B1DD-A644-44D7-B93E-3C3618729F1C}" type="pres">
      <dgm:prSet presAssocID="{D411FF4C-5335-419B-9A69-9B410EDDF66B}" presName="negativeSpace" presStyleCnt="0"/>
      <dgm:spPr/>
    </dgm:pt>
    <dgm:pt modelId="{D366785C-358C-4A5D-B97C-27FDB1A881C6}" type="pres">
      <dgm:prSet presAssocID="{D411FF4C-5335-419B-9A69-9B410EDDF66B}" presName="childText" presStyleLbl="conFgAcc1" presStyleIdx="0" presStyleCnt="3">
        <dgm:presLayoutVars>
          <dgm:bulletEnabled val="1"/>
        </dgm:presLayoutVars>
      </dgm:prSet>
      <dgm:spPr/>
    </dgm:pt>
    <dgm:pt modelId="{556EC341-32EB-463D-9309-1F2F542906F8}" type="pres">
      <dgm:prSet presAssocID="{65C33E6A-A48B-49EB-94FC-87B74DBCAF59}" presName="spaceBetweenRectangles" presStyleCnt="0"/>
      <dgm:spPr/>
    </dgm:pt>
    <dgm:pt modelId="{3E5E901E-770B-4FCF-B830-1FF60D0AA4F8}" type="pres">
      <dgm:prSet presAssocID="{CA2894EE-0D5A-4659-B58E-CE20D2A50118}" presName="parentLin" presStyleCnt="0"/>
      <dgm:spPr/>
    </dgm:pt>
    <dgm:pt modelId="{A236D9D6-E526-4F9C-BB96-34066A60C7C5}" type="pres">
      <dgm:prSet presAssocID="{CA2894EE-0D5A-4659-B58E-CE20D2A50118}" presName="parentLeftMargin" presStyleLbl="node1" presStyleIdx="0" presStyleCnt="3"/>
      <dgm:spPr/>
    </dgm:pt>
    <dgm:pt modelId="{D34B7243-B97E-4FC8-BE12-120AE1E7F848}" type="pres">
      <dgm:prSet presAssocID="{CA2894EE-0D5A-4659-B58E-CE20D2A50118}" presName="parentText" presStyleLbl="node1" presStyleIdx="1" presStyleCnt="3">
        <dgm:presLayoutVars>
          <dgm:chMax val="0"/>
          <dgm:bulletEnabled val="1"/>
        </dgm:presLayoutVars>
      </dgm:prSet>
      <dgm:spPr/>
    </dgm:pt>
    <dgm:pt modelId="{388C51C7-68FA-4F11-AA33-8FD4F150AEC8}" type="pres">
      <dgm:prSet presAssocID="{CA2894EE-0D5A-4659-B58E-CE20D2A50118}" presName="negativeSpace" presStyleCnt="0"/>
      <dgm:spPr/>
    </dgm:pt>
    <dgm:pt modelId="{AA898F12-1B3C-44C4-BE85-7EB46D7D8F24}" type="pres">
      <dgm:prSet presAssocID="{CA2894EE-0D5A-4659-B58E-CE20D2A50118}" presName="childText" presStyleLbl="conFgAcc1" presStyleIdx="1" presStyleCnt="3">
        <dgm:presLayoutVars>
          <dgm:bulletEnabled val="1"/>
        </dgm:presLayoutVars>
      </dgm:prSet>
      <dgm:spPr/>
    </dgm:pt>
    <dgm:pt modelId="{FAA74B6D-B88B-4739-B180-89903FD422D6}" type="pres">
      <dgm:prSet presAssocID="{A07975AB-222D-4C78-85DD-D4F2B6AE3347}" presName="spaceBetweenRectangles" presStyleCnt="0"/>
      <dgm:spPr/>
    </dgm:pt>
    <dgm:pt modelId="{8944C2A2-8FE0-46B3-9367-8BC20FB9CF98}" type="pres">
      <dgm:prSet presAssocID="{CF2F2C1B-DDD4-4751-8539-9EBDE81B0844}" presName="parentLin" presStyleCnt="0"/>
      <dgm:spPr/>
    </dgm:pt>
    <dgm:pt modelId="{A4B23D40-6FB3-4C56-969E-A9E9207411F3}" type="pres">
      <dgm:prSet presAssocID="{CF2F2C1B-DDD4-4751-8539-9EBDE81B0844}" presName="parentLeftMargin" presStyleLbl="node1" presStyleIdx="1" presStyleCnt="3"/>
      <dgm:spPr/>
    </dgm:pt>
    <dgm:pt modelId="{674E94B1-6EA0-41CD-8353-FAD68E1A15DD}" type="pres">
      <dgm:prSet presAssocID="{CF2F2C1B-DDD4-4751-8539-9EBDE81B0844}" presName="parentText" presStyleLbl="node1" presStyleIdx="2" presStyleCnt="3">
        <dgm:presLayoutVars>
          <dgm:chMax val="0"/>
          <dgm:bulletEnabled val="1"/>
        </dgm:presLayoutVars>
      </dgm:prSet>
      <dgm:spPr/>
    </dgm:pt>
    <dgm:pt modelId="{254F1505-58D3-4300-B6A4-FDCE3DCF113B}" type="pres">
      <dgm:prSet presAssocID="{CF2F2C1B-DDD4-4751-8539-9EBDE81B0844}" presName="negativeSpace" presStyleCnt="0"/>
      <dgm:spPr/>
    </dgm:pt>
    <dgm:pt modelId="{06463A9C-AA48-4BCA-BBAB-66ADC526774D}" type="pres">
      <dgm:prSet presAssocID="{CF2F2C1B-DDD4-4751-8539-9EBDE81B0844}" presName="childText" presStyleLbl="conFgAcc1" presStyleIdx="2" presStyleCnt="3">
        <dgm:presLayoutVars>
          <dgm:bulletEnabled val="1"/>
        </dgm:presLayoutVars>
      </dgm:prSet>
      <dgm:spPr/>
    </dgm:pt>
  </dgm:ptLst>
  <dgm:cxnLst>
    <dgm:cxn modelId="{694E0B34-86A8-40DD-A0A9-E955966154D9}" srcId="{8D93D3F3-D48C-4D4D-9705-99773EA1BA99}" destId="{CF2F2C1B-DDD4-4751-8539-9EBDE81B0844}" srcOrd="2" destOrd="0" parTransId="{B5F4E967-2C99-4F83-80B2-8ED24F34C8F2}" sibTransId="{37224DE8-3D4E-4844-87A4-3E9CB7F7B845}"/>
    <dgm:cxn modelId="{06AB6649-7B68-4A29-A8DF-5CB10F59EE68}" type="presOf" srcId="{CA2894EE-0D5A-4659-B58E-CE20D2A50118}" destId="{A236D9D6-E526-4F9C-BB96-34066A60C7C5}" srcOrd="0" destOrd="0" presId="urn:microsoft.com/office/officeart/2005/8/layout/list1"/>
    <dgm:cxn modelId="{83EB2091-BBC8-4F36-835E-34DFA83726B2}" type="presOf" srcId="{8D93D3F3-D48C-4D4D-9705-99773EA1BA99}" destId="{24C905E1-077A-488D-BBB0-CD9A59DE42AF}" srcOrd="0" destOrd="0" presId="urn:microsoft.com/office/officeart/2005/8/layout/list1"/>
    <dgm:cxn modelId="{6DED2D96-DA44-4D0C-B8C8-39063F9283CF}" type="presOf" srcId="{D411FF4C-5335-419B-9A69-9B410EDDF66B}" destId="{04EF05B9-E13D-4ED4-B816-14BA8975132D}" srcOrd="0" destOrd="0" presId="urn:microsoft.com/office/officeart/2005/8/layout/list1"/>
    <dgm:cxn modelId="{FA1AC1A1-4CE1-40EB-A445-E6DE6334B873}" type="presOf" srcId="{D411FF4C-5335-419B-9A69-9B410EDDF66B}" destId="{BF1B6F26-CDC4-4CEC-AB0B-417FA947479E}" srcOrd="1" destOrd="0" presId="urn:microsoft.com/office/officeart/2005/8/layout/list1"/>
    <dgm:cxn modelId="{96794EAC-E3E9-4406-AAEF-C5FF02CFE7D4}" type="presOf" srcId="{CF2F2C1B-DDD4-4751-8539-9EBDE81B0844}" destId="{674E94B1-6EA0-41CD-8353-FAD68E1A15DD}" srcOrd="1" destOrd="0" presId="urn:microsoft.com/office/officeart/2005/8/layout/list1"/>
    <dgm:cxn modelId="{010C44CD-292A-4C13-BA18-719FBEAE6C88}" type="presOf" srcId="{CF2F2C1B-DDD4-4751-8539-9EBDE81B0844}" destId="{A4B23D40-6FB3-4C56-969E-A9E9207411F3}" srcOrd="0" destOrd="0" presId="urn:microsoft.com/office/officeart/2005/8/layout/list1"/>
    <dgm:cxn modelId="{296B96ED-4FC3-48BA-92A5-02F4124F0B62}" type="presOf" srcId="{CA2894EE-0D5A-4659-B58E-CE20D2A50118}" destId="{D34B7243-B97E-4FC8-BE12-120AE1E7F848}" srcOrd="1" destOrd="0" presId="urn:microsoft.com/office/officeart/2005/8/layout/list1"/>
    <dgm:cxn modelId="{1E9B14F1-8D94-4937-B12C-67CBE207CB5A}" srcId="{8D93D3F3-D48C-4D4D-9705-99773EA1BA99}" destId="{D411FF4C-5335-419B-9A69-9B410EDDF66B}" srcOrd="0" destOrd="0" parTransId="{9823260D-A920-46EB-AF6E-F2A669578A91}" sibTransId="{65C33E6A-A48B-49EB-94FC-87B74DBCAF59}"/>
    <dgm:cxn modelId="{1ADF87F3-1ACB-4F25-B148-4C6E3956F038}" srcId="{8D93D3F3-D48C-4D4D-9705-99773EA1BA99}" destId="{CA2894EE-0D5A-4659-B58E-CE20D2A50118}" srcOrd="1" destOrd="0" parTransId="{41D4CF96-1BE4-4896-AE05-62DFCD85A3DF}" sibTransId="{A07975AB-222D-4C78-85DD-D4F2B6AE3347}"/>
    <dgm:cxn modelId="{CF0392CF-78A4-4202-AC76-89CFDD4710D4}" type="presParOf" srcId="{24C905E1-077A-488D-BBB0-CD9A59DE42AF}" destId="{47E1D809-C50A-4AD2-80E7-321801EC87D8}" srcOrd="0" destOrd="0" presId="urn:microsoft.com/office/officeart/2005/8/layout/list1"/>
    <dgm:cxn modelId="{D4AD4341-80A7-44EC-AE4A-231E9E5954B6}" type="presParOf" srcId="{47E1D809-C50A-4AD2-80E7-321801EC87D8}" destId="{04EF05B9-E13D-4ED4-B816-14BA8975132D}" srcOrd="0" destOrd="0" presId="urn:microsoft.com/office/officeart/2005/8/layout/list1"/>
    <dgm:cxn modelId="{49EDED63-458D-444E-91E8-43ED2D3BCA03}" type="presParOf" srcId="{47E1D809-C50A-4AD2-80E7-321801EC87D8}" destId="{BF1B6F26-CDC4-4CEC-AB0B-417FA947479E}" srcOrd="1" destOrd="0" presId="urn:microsoft.com/office/officeart/2005/8/layout/list1"/>
    <dgm:cxn modelId="{ADF22844-8E2A-4348-8875-A6D981498A14}" type="presParOf" srcId="{24C905E1-077A-488D-BBB0-CD9A59DE42AF}" destId="{91C5B1DD-A644-44D7-B93E-3C3618729F1C}" srcOrd="1" destOrd="0" presId="urn:microsoft.com/office/officeart/2005/8/layout/list1"/>
    <dgm:cxn modelId="{A58BC7D2-3138-4BA9-B904-87C317B81104}" type="presParOf" srcId="{24C905E1-077A-488D-BBB0-CD9A59DE42AF}" destId="{D366785C-358C-4A5D-B97C-27FDB1A881C6}" srcOrd="2" destOrd="0" presId="urn:microsoft.com/office/officeart/2005/8/layout/list1"/>
    <dgm:cxn modelId="{CE71AB33-ECCE-42BD-B07D-1439ECBD0422}" type="presParOf" srcId="{24C905E1-077A-488D-BBB0-CD9A59DE42AF}" destId="{556EC341-32EB-463D-9309-1F2F542906F8}" srcOrd="3" destOrd="0" presId="urn:microsoft.com/office/officeart/2005/8/layout/list1"/>
    <dgm:cxn modelId="{6F0437A8-D199-45CE-B2D2-7969C09E3012}" type="presParOf" srcId="{24C905E1-077A-488D-BBB0-CD9A59DE42AF}" destId="{3E5E901E-770B-4FCF-B830-1FF60D0AA4F8}" srcOrd="4" destOrd="0" presId="urn:microsoft.com/office/officeart/2005/8/layout/list1"/>
    <dgm:cxn modelId="{88B6F735-10EE-4F12-A046-19DCB7039659}" type="presParOf" srcId="{3E5E901E-770B-4FCF-B830-1FF60D0AA4F8}" destId="{A236D9D6-E526-4F9C-BB96-34066A60C7C5}" srcOrd="0" destOrd="0" presId="urn:microsoft.com/office/officeart/2005/8/layout/list1"/>
    <dgm:cxn modelId="{6643B8C3-4737-402B-9F05-B1E41CE67F9D}" type="presParOf" srcId="{3E5E901E-770B-4FCF-B830-1FF60D0AA4F8}" destId="{D34B7243-B97E-4FC8-BE12-120AE1E7F848}" srcOrd="1" destOrd="0" presId="urn:microsoft.com/office/officeart/2005/8/layout/list1"/>
    <dgm:cxn modelId="{EE39BBA5-C22A-4CC3-B2F8-325A6D6FED04}" type="presParOf" srcId="{24C905E1-077A-488D-BBB0-CD9A59DE42AF}" destId="{388C51C7-68FA-4F11-AA33-8FD4F150AEC8}" srcOrd="5" destOrd="0" presId="urn:microsoft.com/office/officeart/2005/8/layout/list1"/>
    <dgm:cxn modelId="{9F0A2DE2-64BA-4341-9E2E-48AF3E066562}" type="presParOf" srcId="{24C905E1-077A-488D-BBB0-CD9A59DE42AF}" destId="{AA898F12-1B3C-44C4-BE85-7EB46D7D8F24}" srcOrd="6" destOrd="0" presId="urn:microsoft.com/office/officeart/2005/8/layout/list1"/>
    <dgm:cxn modelId="{875619CA-96D5-40DE-A09D-5C32398C97A5}" type="presParOf" srcId="{24C905E1-077A-488D-BBB0-CD9A59DE42AF}" destId="{FAA74B6D-B88B-4739-B180-89903FD422D6}" srcOrd="7" destOrd="0" presId="urn:microsoft.com/office/officeart/2005/8/layout/list1"/>
    <dgm:cxn modelId="{4163D16E-95BF-49AE-8970-5AEFD409D1A4}" type="presParOf" srcId="{24C905E1-077A-488D-BBB0-CD9A59DE42AF}" destId="{8944C2A2-8FE0-46B3-9367-8BC20FB9CF98}" srcOrd="8" destOrd="0" presId="urn:microsoft.com/office/officeart/2005/8/layout/list1"/>
    <dgm:cxn modelId="{69877ED3-9B63-4DF8-8563-F4BBF02F009E}" type="presParOf" srcId="{8944C2A2-8FE0-46B3-9367-8BC20FB9CF98}" destId="{A4B23D40-6FB3-4C56-969E-A9E9207411F3}" srcOrd="0" destOrd="0" presId="urn:microsoft.com/office/officeart/2005/8/layout/list1"/>
    <dgm:cxn modelId="{87056D4F-D053-4C92-A6AC-845D8E92EC6B}" type="presParOf" srcId="{8944C2A2-8FE0-46B3-9367-8BC20FB9CF98}" destId="{674E94B1-6EA0-41CD-8353-FAD68E1A15DD}" srcOrd="1" destOrd="0" presId="urn:microsoft.com/office/officeart/2005/8/layout/list1"/>
    <dgm:cxn modelId="{146A1B32-D5C3-4AB6-BD54-F4380B578763}" type="presParOf" srcId="{24C905E1-077A-488D-BBB0-CD9A59DE42AF}" destId="{254F1505-58D3-4300-B6A4-FDCE3DCF113B}" srcOrd="9" destOrd="0" presId="urn:microsoft.com/office/officeart/2005/8/layout/list1"/>
    <dgm:cxn modelId="{7CA96ECA-AA85-4702-921D-6AA42BC40ABE}" type="presParOf" srcId="{24C905E1-077A-488D-BBB0-CD9A59DE42AF}" destId="{06463A9C-AA48-4BCA-BBAB-66ADC526774D}"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66785C-358C-4A5D-B97C-27FDB1A881C6}">
      <dsp:nvSpPr>
        <dsp:cNvPr id="0" name=""/>
        <dsp:cNvSpPr/>
      </dsp:nvSpPr>
      <dsp:spPr>
        <a:xfrm>
          <a:off x="0" y="653180"/>
          <a:ext cx="6666833" cy="1033200"/>
        </a:xfrm>
        <a:prstGeom prst="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BF1B6F26-CDC4-4CEC-AB0B-417FA947479E}">
      <dsp:nvSpPr>
        <dsp:cNvPr id="0" name=""/>
        <dsp:cNvSpPr/>
      </dsp:nvSpPr>
      <dsp:spPr>
        <a:xfrm>
          <a:off x="333341" y="48020"/>
          <a:ext cx="4666783" cy="121032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822450">
            <a:lnSpc>
              <a:spcPct val="90000"/>
            </a:lnSpc>
            <a:spcBef>
              <a:spcPct val="0"/>
            </a:spcBef>
            <a:spcAft>
              <a:spcPct val="35000"/>
            </a:spcAft>
            <a:buNone/>
          </a:pPr>
          <a:r>
            <a:rPr lang="en-GB" sz="4100" kern="1200"/>
            <a:t>• Phishing</a:t>
          </a:r>
          <a:endParaRPr lang="en-US" sz="4100" kern="1200"/>
        </a:p>
      </dsp:txBody>
      <dsp:txXfrm>
        <a:off x="392424" y="107103"/>
        <a:ext cx="4548617" cy="1092154"/>
      </dsp:txXfrm>
    </dsp:sp>
    <dsp:sp modelId="{AA898F12-1B3C-44C4-BE85-7EB46D7D8F24}">
      <dsp:nvSpPr>
        <dsp:cNvPr id="0" name=""/>
        <dsp:cNvSpPr/>
      </dsp:nvSpPr>
      <dsp:spPr>
        <a:xfrm>
          <a:off x="0" y="2512940"/>
          <a:ext cx="6666833" cy="1033200"/>
        </a:xfrm>
        <a:prstGeom prst="rect">
          <a:avLst/>
        </a:prstGeom>
        <a:solidFill>
          <a:schemeClr val="lt1">
            <a:alpha val="90000"/>
            <a:hueOff val="0"/>
            <a:satOff val="0"/>
            <a:lumOff val="0"/>
            <a:alphaOff val="0"/>
          </a:schemeClr>
        </a:solidFill>
        <a:ln w="6350" cap="flat" cmpd="sng" algn="ctr">
          <a:solidFill>
            <a:schemeClr val="accent5">
              <a:hueOff val="-3379271"/>
              <a:satOff val="-8710"/>
              <a:lumOff val="-5883"/>
              <a:alphaOff val="0"/>
            </a:schemeClr>
          </a:solidFill>
          <a:prstDash val="solid"/>
          <a:miter lim="800000"/>
        </a:ln>
        <a:effectLst/>
      </dsp:spPr>
      <dsp:style>
        <a:lnRef idx="1">
          <a:scrgbClr r="0" g="0" b="0"/>
        </a:lnRef>
        <a:fillRef idx="1">
          <a:scrgbClr r="0" g="0" b="0"/>
        </a:fillRef>
        <a:effectRef idx="0">
          <a:scrgbClr r="0" g="0" b="0"/>
        </a:effectRef>
        <a:fontRef idx="minor"/>
      </dsp:style>
    </dsp:sp>
    <dsp:sp modelId="{D34B7243-B97E-4FC8-BE12-120AE1E7F848}">
      <dsp:nvSpPr>
        <dsp:cNvPr id="0" name=""/>
        <dsp:cNvSpPr/>
      </dsp:nvSpPr>
      <dsp:spPr>
        <a:xfrm>
          <a:off x="333341" y="1907780"/>
          <a:ext cx="4666783" cy="1210320"/>
        </a:xfrm>
        <a:prstGeom prst="roundRect">
          <a:avLst/>
        </a:prstGeom>
        <a:gradFill rotWithShape="0">
          <a:gsLst>
            <a:gs pos="0">
              <a:schemeClr val="accent5">
                <a:hueOff val="-3379271"/>
                <a:satOff val="-8710"/>
                <a:lumOff val="-5883"/>
                <a:alphaOff val="0"/>
                <a:satMod val="103000"/>
                <a:lumMod val="102000"/>
                <a:tint val="94000"/>
              </a:schemeClr>
            </a:gs>
            <a:gs pos="50000">
              <a:schemeClr val="accent5">
                <a:hueOff val="-3379271"/>
                <a:satOff val="-8710"/>
                <a:lumOff val="-5883"/>
                <a:alphaOff val="0"/>
                <a:satMod val="110000"/>
                <a:lumMod val="100000"/>
                <a:shade val="100000"/>
              </a:schemeClr>
            </a:gs>
            <a:gs pos="100000">
              <a:schemeClr val="accent5">
                <a:hueOff val="-3379271"/>
                <a:satOff val="-8710"/>
                <a:lumOff val="-5883"/>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822450">
            <a:lnSpc>
              <a:spcPct val="90000"/>
            </a:lnSpc>
            <a:spcBef>
              <a:spcPct val="0"/>
            </a:spcBef>
            <a:spcAft>
              <a:spcPct val="35000"/>
            </a:spcAft>
            <a:buNone/>
          </a:pPr>
          <a:r>
            <a:rPr lang="en-GB" sz="4100" kern="1200"/>
            <a:t>• Frauds</a:t>
          </a:r>
          <a:endParaRPr lang="en-US" sz="4100" kern="1200"/>
        </a:p>
      </dsp:txBody>
      <dsp:txXfrm>
        <a:off x="392424" y="1966863"/>
        <a:ext cx="4548617" cy="1092154"/>
      </dsp:txXfrm>
    </dsp:sp>
    <dsp:sp modelId="{06463A9C-AA48-4BCA-BBAB-66ADC526774D}">
      <dsp:nvSpPr>
        <dsp:cNvPr id="0" name=""/>
        <dsp:cNvSpPr/>
      </dsp:nvSpPr>
      <dsp:spPr>
        <a:xfrm>
          <a:off x="0" y="4372700"/>
          <a:ext cx="6666833" cy="1033200"/>
        </a:xfrm>
        <a:prstGeom prst="rect">
          <a:avLst/>
        </a:prstGeom>
        <a:solidFill>
          <a:schemeClr val="lt1">
            <a:alpha val="90000"/>
            <a:hueOff val="0"/>
            <a:satOff val="0"/>
            <a:lumOff val="0"/>
            <a:alphaOff val="0"/>
          </a:schemeClr>
        </a:solidFill>
        <a:ln w="6350" cap="flat" cmpd="sng" algn="ctr">
          <a:solidFill>
            <a:schemeClr val="accent5">
              <a:hueOff val="-6758543"/>
              <a:satOff val="-17419"/>
              <a:lumOff val="-11765"/>
              <a:alphaOff val="0"/>
            </a:schemeClr>
          </a:solidFill>
          <a:prstDash val="solid"/>
          <a:miter lim="800000"/>
        </a:ln>
        <a:effectLst/>
      </dsp:spPr>
      <dsp:style>
        <a:lnRef idx="1">
          <a:scrgbClr r="0" g="0" b="0"/>
        </a:lnRef>
        <a:fillRef idx="1">
          <a:scrgbClr r="0" g="0" b="0"/>
        </a:fillRef>
        <a:effectRef idx="0">
          <a:scrgbClr r="0" g="0" b="0"/>
        </a:effectRef>
        <a:fontRef idx="minor"/>
      </dsp:style>
    </dsp:sp>
    <dsp:sp modelId="{674E94B1-6EA0-41CD-8353-FAD68E1A15DD}">
      <dsp:nvSpPr>
        <dsp:cNvPr id="0" name=""/>
        <dsp:cNvSpPr/>
      </dsp:nvSpPr>
      <dsp:spPr>
        <a:xfrm>
          <a:off x="333341" y="3767540"/>
          <a:ext cx="4666783" cy="1210320"/>
        </a:xfrm>
        <a:prstGeom prst="roundRect">
          <a:avLst/>
        </a:prstGeom>
        <a:gradFill rotWithShape="0">
          <a:gsLst>
            <a:gs pos="0">
              <a:schemeClr val="accent5">
                <a:hueOff val="-6758543"/>
                <a:satOff val="-17419"/>
                <a:lumOff val="-11765"/>
                <a:alphaOff val="0"/>
                <a:satMod val="103000"/>
                <a:lumMod val="102000"/>
                <a:tint val="94000"/>
              </a:schemeClr>
            </a:gs>
            <a:gs pos="50000">
              <a:schemeClr val="accent5">
                <a:hueOff val="-6758543"/>
                <a:satOff val="-17419"/>
                <a:lumOff val="-11765"/>
                <a:alphaOff val="0"/>
                <a:satMod val="110000"/>
                <a:lumMod val="100000"/>
                <a:shade val="100000"/>
              </a:schemeClr>
            </a:gs>
            <a:gs pos="100000">
              <a:schemeClr val="accent5">
                <a:hueOff val="-6758543"/>
                <a:satOff val="-17419"/>
                <a:lumOff val="-1176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822450">
            <a:lnSpc>
              <a:spcPct val="90000"/>
            </a:lnSpc>
            <a:spcBef>
              <a:spcPct val="0"/>
            </a:spcBef>
            <a:spcAft>
              <a:spcPct val="35000"/>
            </a:spcAft>
            <a:buNone/>
          </a:pPr>
          <a:r>
            <a:rPr lang="en-GB" sz="4100" kern="1200"/>
            <a:t>• Proper crediting</a:t>
          </a:r>
          <a:endParaRPr lang="en-US" sz="4100" kern="1200"/>
        </a:p>
      </dsp:txBody>
      <dsp:txXfrm>
        <a:off x="392424" y="3826623"/>
        <a:ext cx="4548617" cy="1092154"/>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29/05/2024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29/05/2024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29/05/2024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29/05/2024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29/05/2024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29/05/2024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29/05/2024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29/05/2024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29/05/2024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29/05/2024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29/05/2024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GB" smtClean="0"/>
              <a:t>29/05/2024</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kaggle.com/datasets/ashwingupta3012/human-faces?rvi=1" TargetMode="External"/><Relationship Id="rId2" Type="http://schemas.openxmlformats.org/officeDocument/2006/relationships/hyperlink" Target="https://www.kaggle.com/datasets/bwandowando/all-these-people-dont-exist" TargetMode="Externa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hyperlink" Target="https://www.kaggle.com/datasets/philosopher0808/real-vs-ai-generated-faces-dataset/data?select=dataset"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rt 3D d’une personne">
            <a:extLst>
              <a:ext uri="{FF2B5EF4-FFF2-40B4-BE49-F238E27FC236}">
                <a16:creationId xmlns:a16="http://schemas.microsoft.com/office/drawing/2014/main" id="{D62BFC85-7B0E-C4D6-BDB0-C379910BD6AD}"/>
              </a:ext>
            </a:extLst>
          </p:cNvPr>
          <p:cNvPicPr>
            <a:picLocks noChangeAspect="1"/>
          </p:cNvPicPr>
          <p:nvPr/>
        </p:nvPicPr>
        <p:blipFill rotWithShape="1">
          <a:blip r:embed="rId2"/>
          <a:srcRect t="14356" r="9092" b="13724"/>
          <a:stretch/>
        </p:blipFill>
        <p:spPr>
          <a:xfrm>
            <a:off x="3523488" y="10"/>
            <a:ext cx="8668512" cy="6857990"/>
          </a:xfrm>
          <a:prstGeom prst="rect">
            <a:avLst/>
          </a:prstGeom>
        </p:spPr>
      </p:pic>
      <p:sp>
        <p:nvSpPr>
          <p:cNvPr id="11" name="Rectangle 10">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77981" y="1122363"/>
            <a:ext cx="4023360" cy="3204134"/>
          </a:xfrm>
        </p:spPr>
        <p:txBody>
          <a:bodyPr anchor="b">
            <a:normAutofit fontScale="90000"/>
          </a:bodyPr>
          <a:lstStyle/>
          <a:p>
            <a:pPr algn="l"/>
            <a:r>
              <a:rPr lang="en-GB" sz="4800" dirty="0">
                <a:solidFill>
                  <a:schemeClr val="bg1"/>
                </a:solidFill>
                <a:ea typeface="+mj-lt"/>
                <a:cs typeface="+mj-lt"/>
              </a:rPr>
              <a:t>AI-Portrait classification</a:t>
            </a:r>
            <a:br>
              <a:rPr lang="en-GB" sz="4800" dirty="0">
                <a:solidFill>
                  <a:schemeClr val="bg1"/>
                </a:solidFill>
                <a:ea typeface="+mj-lt"/>
                <a:cs typeface="+mj-lt"/>
              </a:rPr>
            </a:br>
            <a:br>
              <a:rPr lang="en-GB" sz="4800" dirty="0">
                <a:solidFill>
                  <a:schemeClr val="bg1"/>
                </a:solidFill>
                <a:ea typeface="+mj-lt"/>
                <a:cs typeface="+mj-lt"/>
              </a:rPr>
            </a:br>
            <a:br>
              <a:rPr lang="en-GB" sz="4800" dirty="0">
                <a:ea typeface="+mj-lt"/>
                <a:cs typeface="+mj-lt"/>
              </a:rPr>
            </a:br>
            <a:r>
              <a:rPr lang="en-GB" sz="2000" b="1" dirty="0">
                <a:solidFill>
                  <a:schemeClr val="bg1"/>
                </a:solidFill>
                <a:ea typeface="+mj-lt"/>
                <a:cs typeface="+mj-lt"/>
              </a:rPr>
              <a:t>Supervisor:-</a:t>
            </a:r>
            <a:br>
              <a:rPr lang="en-GB" sz="2000" b="1" dirty="0">
                <a:ea typeface="+mj-lt"/>
                <a:cs typeface="+mj-lt"/>
              </a:rPr>
            </a:br>
            <a:r>
              <a:rPr lang="en-GB" sz="2000" b="1" dirty="0">
                <a:solidFill>
                  <a:schemeClr val="bg1"/>
                </a:solidFill>
                <a:ea typeface="+mj-lt"/>
                <a:cs typeface="+mj-lt"/>
              </a:rPr>
              <a:t>Ms. Shaveta Arora</a:t>
            </a:r>
          </a:p>
        </p:txBody>
      </p:sp>
      <p:sp>
        <p:nvSpPr>
          <p:cNvPr id="3" name="Subtitle 2"/>
          <p:cNvSpPr>
            <a:spLocks noGrp="1"/>
          </p:cNvSpPr>
          <p:nvPr>
            <p:ph type="subTitle" idx="1"/>
          </p:nvPr>
        </p:nvSpPr>
        <p:spPr>
          <a:xfrm>
            <a:off x="477980" y="4872922"/>
            <a:ext cx="4023359" cy="1208141"/>
          </a:xfrm>
        </p:spPr>
        <p:txBody>
          <a:bodyPr vert="horz" lIns="91440" tIns="45720" rIns="91440" bIns="45720" rtlCol="0" anchor="t">
            <a:normAutofit/>
          </a:bodyPr>
          <a:lstStyle/>
          <a:p>
            <a:pPr algn="l"/>
            <a:r>
              <a:rPr lang="en-GB" sz="2000" dirty="0">
                <a:solidFill>
                  <a:schemeClr val="bg1"/>
                </a:solidFill>
                <a:ea typeface="+mn-lt"/>
                <a:cs typeface="+mn-lt"/>
              </a:rPr>
              <a:t>By: -</a:t>
            </a:r>
            <a:endParaRPr lang="en-US" sz="2000" dirty="0">
              <a:solidFill>
                <a:schemeClr val="bg1"/>
              </a:solidFill>
            </a:endParaRPr>
          </a:p>
          <a:p>
            <a:pPr algn="l"/>
            <a:r>
              <a:rPr lang="en-GB" sz="2000" dirty="0">
                <a:solidFill>
                  <a:schemeClr val="bg1"/>
                </a:solidFill>
                <a:ea typeface="+mn-lt"/>
                <a:cs typeface="+mn-lt"/>
              </a:rPr>
              <a:t>Sahir </a:t>
            </a:r>
            <a:r>
              <a:rPr lang="en-GB" sz="2000" err="1">
                <a:solidFill>
                  <a:schemeClr val="bg1"/>
                </a:solidFill>
                <a:ea typeface="+mn-lt"/>
                <a:cs typeface="+mn-lt"/>
              </a:rPr>
              <a:t>Karigar</a:t>
            </a:r>
            <a:r>
              <a:rPr lang="en-GB" sz="2000" dirty="0">
                <a:solidFill>
                  <a:schemeClr val="bg1"/>
                </a:solidFill>
                <a:ea typeface="+mn-lt"/>
                <a:cs typeface="+mn-lt"/>
              </a:rPr>
              <a:t> (20CSU092)</a:t>
            </a:r>
          </a:p>
          <a:p>
            <a:pPr algn="l"/>
            <a:r>
              <a:rPr lang="en-GB" sz="2000" dirty="0">
                <a:solidFill>
                  <a:schemeClr val="bg1"/>
                </a:solidFill>
                <a:ea typeface="Calibri"/>
                <a:cs typeface="Calibri"/>
              </a:rPr>
              <a:t>Prateek </a:t>
            </a:r>
            <a:r>
              <a:rPr lang="en-GB" sz="2000" dirty="0" err="1">
                <a:solidFill>
                  <a:schemeClr val="bg1"/>
                </a:solidFill>
                <a:ea typeface="Calibri"/>
                <a:cs typeface="Calibri"/>
              </a:rPr>
              <a:t>Dhankar</a:t>
            </a:r>
            <a:r>
              <a:rPr lang="en-GB" sz="2000" dirty="0">
                <a:solidFill>
                  <a:schemeClr val="bg1"/>
                </a:solidFill>
                <a:ea typeface="Calibri"/>
                <a:cs typeface="Calibri"/>
              </a:rPr>
              <a:t>(20csu080)</a:t>
            </a:r>
          </a:p>
          <a:p>
            <a:pPr algn="l"/>
            <a:endParaRPr lang="en-GB" sz="2000" dirty="0">
              <a:solidFill>
                <a:schemeClr val="bg1"/>
              </a:solidFill>
              <a:ea typeface="Calibri"/>
              <a:cs typeface="Calibri"/>
            </a:endParaRPr>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CB727223-CABF-8E86-7264-713E0E3AD1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47350" y="203535"/>
            <a:ext cx="1384300" cy="990600"/>
          </a:xfrm>
          <a:prstGeom prst="rect">
            <a:avLst/>
          </a:prstGeom>
        </p:spPr>
      </p:pic>
    </p:spTree>
    <p:extLst>
      <p:ext uri="{BB962C8B-B14F-4D97-AF65-F5344CB8AC3E}">
        <p14:creationId xmlns:p14="http://schemas.microsoft.com/office/powerpoint/2010/main" val="109857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iterate>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1500"/>
                                  </p:stCondLst>
                                  <p:iterate>
                                    <p:tmPct val="10000"/>
                                  </p:iterate>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7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1500"/>
                                  </p:stCondLst>
                                  <p:iterate>
                                    <p:tmPct val="10000"/>
                                  </p:iterate>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700"/>
                                        <p:tgtEl>
                                          <p:spTgt spid="3">
                                            <p:txEl>
                                              <p:pRg st="2" end="2"/>
                                            </p:txEl>
                                          </p:spTgt>
                                        </p:tgtEl>
                                      </p:cBhvr>
                                    </p:animEffect>
                                  </p:childTnLst>
                                </p:cTn>
                              </p:par>
                              <p:par>
                                <p:cTn id="18" presetID="10" presetClass="entr" presetSubtype="0" fill="hold" grpId="0" nodeType="withEffect">
                                  <p:stCondLst>
                                    <p:cond delay="1000"/>
                                  </p:stCondLst>
                                  <p:iterate>
                                    <p:tmPct val="10000"/>
                                  </p:iterate>
                                  <p:childTnLst>
                                    <p:set>
                                      <p:cBhvr>
                                        <p:cTn id="19" dur="1" fill="hold">
                                          <p:stCondLst>
                                            <p:cond delay="0"/>
                                          </p:stCondLst>
                                        </p:cTn>
                                        <p:tgtEl>
                                          <p:spTgt spid="2"/>
                                        </p:tgtEl>
                                        <p:attrNameLst>
                                          <p:attrName>style.visibility</p:attrName>
                                        </p:attrNameLst>
                                      </p:cBhvr>
                                      <p:to>
                                        <p:strVal val="visible"/>
                                      </p:to>
                                    </p:set>
                                    <p:animEffect transition="in" filter="fade">
                                      <p:cBhvr>
                                        <p:cTn id="20"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AF607CA-84A6-4A88-9F80-F8A832C981D9}"/>
              </a:ext>
            </a:extLst>
          </p:cNvPr>
          <p:cNvSpPr>
            <a:spLocks noGrp="1"/>
          </p:cNvSpPr>
          <p:nvPr>
            <p:ph type="title"/>
          </p:nvPr>
        </p:nvSpPr>
        <p:spPr>
          <a:xfrm>
            <a:off x="1115568" y="548640"/>
            <a:ext cx="10168128" cy="1179576"/>
          </a:xfrm>
        </p:spPr>
        <p:txBody>
          <a:bodyPr>
            <a:normAutofit/>
          </a:bodyPr>
          <a:lstStyle/>
          <a:p>
            <a:r>
              <a:rPr lang="en-GB" sz="4000">
                <a:ea typeface="+mj-lt"/>
                <a:cs typeface="+mj-lt"/>
              </a:rPr>
              <a:t>INTRODUCTION</a:t>
            </a:r>
            <a:endParaRPr lang="en-US" sz="400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748471EF-0CC1-A537-1A58-36DE4689E404}"/>
              </a:ext>
            </a:extLst>
          </p:cNvPr>
          <p:cNvSpPr>
            <a:spLocks noGrp="1"/>
          </p:cNvSpPr>
          <p:nvPr>
            <p:ph idx="1"/>
          </p:nvPr>
        </p:nvSpPr>
        <p:spPr>
          <a:xfrm>
            <a:off x="623732" y="2329543"/>
            <a:ext cx="10168128" cy="3695020"/>
          </a:xfrm>
        </p:spPr>
        <p:txBody>
          <a:bodyPr vert="horz" lIns="91440" tIns="45720" rIns="91440" bIns="45720" rtlCol="0" anchor="t">
            <a:noAutofit/>
          </a:bodyPr>
          <a:lstStyle/>
          <a:p>
            <a:pPr>
              <a:buNone/>
            </a:pPr>
            <a:r>
              <a:rPr lang="en-GB" dirty="0">
                <a:ea typeface="+mn-lt"/>
                <a:cs typeface="+mn-lt"/>
              </a:rPr>
              <a:t>   AI has transformed technology, allowing machines to perform tasks once thought exclusive to humans. One significant advancement is AI's ability to generate realistic portrait images .this raises concerns about authenticity and potential deception. These portraits can mislead viewers. It's essential to accurately distinguish between AI-generated and human-generated images.</a:t>
            </a:r>
            <a:endParaRPr lang="en-US" dirty="0">
              <a:cs typeface="Calibri" panose="020F0502020204030204"/>
            </a:endParaRPr>
          </a:p>
        </p:txBody>
      </p:sp>
      <p:pic>
        <p:nvPicPr>
          <p:cNvPr id="4" name="Picture 3">
            <a:extLst>
              <a:ext uri="{FF2B5EF4-FFF2-40B4-BE49-F238E27FC236}">
                <a16:creationId xmlns:a16="http://schemas.microsoft.com/office/drawing/2014/main" id="{D1486E5E-D445-921A-F563-674DC69D59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2568" y="237903"/>
            <a:ext cx="1384300" cy="990600"/>
          </a:xfrm>
          <a:prstGeom prst="rect">
            <a:avLst/>
          </a:prstGeom>
        </p:spPr>
      </p:pic>
    </p:spTree>
    <p:extLst>
      <p:ext uri="{BB962C8B-B14F-4D97-AF65-F5344CB8AC3E}">
        <p14:creationId xmlns:p14="http://schemas.microsoft.com/office/powerpoint/2010/main" val="6501594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C18EAF-0030-226B-DC99-866B5982BA9C}"/>
              </a:ext>
            </a:extLst>
          </p:cNvPr>
          <p:cNvSpPr>
            <a:spLocks noGrp="1"/>
          </p:cNvSpPr>
          <p:nvPr>
            <p:ph type="title"/>
          </p:nvPr>
        </p:nvSpPr>
        <p:spPr>
          <a:xfrm>
            <a:off x="838200" y="365125"/>
            <a:ext cx="10515600" cy="1325563"/>
          </a:xfrm>
        </p:spPr>
        <p:txBody>
          <a:bodyPr>
            <a:normAutofit/>
          </a:bodyPr>
          <a:lstStyle/>
          <a:p>
            <a:r>
              <a:rPr lang="en-US" sz="5400">
                <a:cs typeface="Calibri Light"/>
              </a:rPr>
              <a:t>Literature survey</a:t>
            </a:r>
            <a:endParaRPr lang="en-US"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D6A5E14-22E0-25D8-C4AA-8A2D5283F9CE}"/>
              </a:ext>
            </a:extLst>
          </p:cNvPr>
          <p:cNvSpPr>
            <a:spLocks noGrp="1"/>
          </p:cNvSpPr>
          <p:nvPr>
            <p:ph idx="1"/>
          </p:nvPr>
        </p:nvSpPr>
        <p:spPr>
          <a:xfrm>
            <a:off x="838200" y="1929384"/>
            <a:ext cx="10515600" cy="4251960"/>
          </a:xfrm>
        </p:spPr>
        <p:txBody>
          <a:bodyPr vert="horz" lIns="91440" tIns="45720" rIns="91440" bIns="45720" rtlCol="0">
            <a:normAutofit/>
          </a:bodyPr>
          <a:lstStyle/>
          <a:p>
            <a:pPr marL="0" indent="0">
              <a:buNone/>
            </a:pPr>
            <a:r>
              <a:rPr lang="en-US" sz="2200">
                <a:ea typeface="+mn-lt"/>
                <a:cs typeface="+mn-lt"/>
              </a:rPr>
              <a:t>GAN-generated Faces Detection: A Survey and New Perspectives" by Matern, Riess, and Stamminger</a:t>
            </a:r>
          </a:p>
          <a:p>
            <a:pPr marL="171450" indent="-171450"/>
            <a:r>
              <a:rPr lang="en-US" sz="2200">
                <a:ea typeface="+mn-lt"/>
                <a:cs typeface="+mn-lt"/>
              </a:rPr>
              <a:t>accuracy rates, often surpassing 95%</a:t>
            </a:r>
          </a:p>
          <a:p>
            <a:pPr marL="171450" indent="-171450"/>
            <a:r>
              <a:rPr lang="en-US" sz="2200">
                <a:ea typeface="+mn-lt"/>
                <a:cs typeface="+mn-lt"/>
              </a:rPr>
              <a:t>challenge posed by the continual improvement of GANs, which makes detection increasingly difficult</a:t>
            </a:r>
          </a:p>
          <a:p>
            <a:pPr marL="0" indent="0">
              <a:buNone/>
            </a:pPr>
            <a:r>
              <a:rPr lang="en-US" sz="2200">
                <a:latin typeface="Times New Roman"/>
                <a:ea typeface="+mn-lt"/>
                <a:cs typeface="Times New Roman"/>
              </a:rPr>
              <a:t>Detecting CNN-Generated Facial Images in Real-World Scenarios by Hulzebosch</a:t>
            </a:r>
            <a:endParaRPr lang="en-US" sz="2200">
              <a:latin typeface="Times New Roman"/>
              <a:cs typeface="Times New Roman"/>
            </a:endParaRPr>
          </a:p>
          <a:p>
            <a:pPr marL="171450" indent="-171450"/>
            <a:r>
              <a:rPr lang="en-US" sz="2200">
                <a:latin typeface="Times New Roman"/>
                <a:cs typeface="Times New Roman"/>
              </a:rPr>
              <a:t>achieving a notable result of 98%</a:t>
            </a:r>
          </a:p>
          <a:p>
            <a:pPr marL="171450" indent="-171450"/>
            <a:r>
              <a:rPr lang="en-US" sz="2200">
                <a:latin typeface="Times New Roman"/>
                <a:cs typeface="Times New Roman"/>
              </a:rPr>
              <a:t>inadequacy of sole reliance on human judgment for discerning AI-generated images in real-world scenarios</a:t>
            </a:r>
          </a:p>
          <a:p>
            <a:pPr marL="0" indent="0">
              <a:buNone/>
            </a:pPr>
            <a:endParaRPr lang="en-US" sz="2200">
              <a:latin typeface="Times New Roman"/>
              <a:cs typeface="Times New Roman"/>
            </a:endParaRPr>
          </a:p>
          <a:p>
            <a:pPr marL="0" indent="0">
              <a:buNone/>
            </a:pPr>
            <a:endParaRPr lang="en-US" sz="2200">
              <a:latin typeface="Times New Roman"/>
              <a:cs typeface="Times New Roman"/>
            </a:endParaRPr>
          </a:p>
          <a:p>
            <a:pPr marL="0" indent="0">
              <a:buNone/>
            </a:pPr>
            <a:endParaRPr lang="en-US" sz="2200">
              <a:latin typeface="Times New Roman"/>
              <a:cs typeface="Times New Roman"/>
            </a:endParaRPr>
          </a:p>
          <a:p>
            <a:pPr marL="457200" lvl="1" indent="0">
              <a:buNone/>
            </a:pPr>
            <a:endParaRPr lang="en-US" sz="2200">
              <a:latin typeface="Calibri"/>
              <a:cs typeface="Calibri"/>
            </a:endParaRPr>
          </a:p>
          <a:p>
            <a:pPr marL="0" indent="0">
              <a:buNone/>
            </a:pPr>
            <a:endParaRPr lang="en-US" sz="2200">
              <a:latin typeface="Times New Roman"/>
              <a:cs typeface="Times New Roman"/>
            </a:endParaRPr>
          </a:p>
          <a:p>
            <a:pPr marL="0" indent="0">
              <a:buNone/>
            </a:pPr>
            <a:endParaRPr lang="en-US" sz="2200">
              <a:latin typeface="Times New Roman"/>
              <a:cs typeface="Times New Roman"/>
            </a:endParaRPr>
          </a:p>
        </p:txBody>
      </p:sp>
      <p:pic>
        <p:nvPicPr>
          <p:cNvPr id="4" name="Picture 3">
            <a:extLst>
              <a:ext uri="{FF2B5EF4-FFF2-40B4-BE49-F238E27FC236}">
                <a16:creationId xmlns:a16="http://schemas.microsoft.com/office/drawing/2014/main" id="{E6DCA2AC-78C2-88D5-4503-8C55D71A98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87076" y="262128"/>
            <a:ext cx="1384300" cy="990600"/>
          </a:xfrm>
          <a:prstGeom prst="rect">
            <a:avLst/>
          </a:prstGeom>
        </p:spPr>
      </p:pic>
    </p:spTree>
    <p:extLst>
      <p:ext uri="{BB962C8B-B14F-4D97-AF65-F5344CB8AC3E}">
        <p14:creationId xmlns:p14="http://schemas.microsoft.com/office/powerpoint/2010/main" val="29081077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D6D6E4-B674-7808-5F9E-81F5A12E5D5F}"/>
              </a:ext>
            </a:extLst>
          </p:cNvPr>
          <p:cNvSpPr>
            <a:spLocks noGrp="1"/>
          </p:cNvSpPr>
          <p:nvPr>
            <p:ph type="title"/>
          </p:nvPr>
        </p:nvSpPr>
        <p:spPr>
          <a:xfrm>
            <a:off x="586478" y="1683756"/>
            <a:ext cx="3115265" cy="2396359"/>
          </a:xfrm>
        </p:spPr>
        <p:txBody>
          <a:bodyPr anchor="b">
            <a:normAutofit/>
          </a:bodyPr>
          <a:lstStyle/>
          <a:p>
            <a:pPr algn="r"/>
            <a:r>
              <a:rPr lang="en-GB" sz="3400">
                <a:solidFill>
                  <a:srgbClr val="FFFFFF"/>
                </a:solidFill>
                <a:ea typeface="+mj-lt"/>
                <a:cs typeface="+mj-lt"/>
              </a:rPr>
              <a:t>NEED OF AI GENERATED PORTRAIT</a:t>
            </a:r>
            <a:endParaRPr lang="en-US" sz="3400">
              <a:solidFill>
                <a:srgbClr val="FFFFFF"/>
              </a:solidFill>
            </a:endParaRPr>
          </a:p>
          <a:p>
            <a:pPr algn="r"/>
            <a:r>
              <a:rPr lang="en-GB" sz="3400">
                <a:solidFill>
                  <a:srgbClr val="FFFFFF"/>
                </a:solidFill>
                <a:ea typeface="+mj-lt"/>
                <a:cs typeface="+mj-lt"/>
              </a:rPr>
              <a:t>CLASSIFICATION</a:t>
            </a:r>
            <a:endParaRPr lang="en-GB" sz="3400">
              <a:solidFill>
                <a:srgbClr val="FFFFFF"/>
              </a:solidFill>
            </a:endParaRPr>
          </a:p>
        </p:txBody>
      </p:sp>
      <p:graphicFrame>
        <p:nvGraphicFramePr>
          <p:cNvPr id="5" name="Content Placeholder 2">
            <a:extLst>
              <a:ext uri="{FF2B5EF4-FFF2-40B4-BE49-F238E27FC236}">
                <a16:creationId xmlns:a16="http://schemas.microsoft.com/office/drawing/2014/main" id="{C7B39E7D-6893-9F58-3085-BE12FCED1B12}"/>
              </a:ext>
            </a:extLst>
          </p:cNvPr>
          <p:cNvGraphicFramePr>
            <a:graphicFrameLocks noGrp="1"/>
          </p:cNvGraphicFramePr>
          <p:nvPr>
            <p:ph idx="1"/>
            <p:extLst>
              <p:ext uri="{D42A27DB-BD31-4B8C-83A1-F6EECF244321}">
                <p14:modId xmlns:p14="http://schemas.microsoft.com/office/powerpoint/2010/main" val="1848845880"/>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Picture 2">
            <a:extLst>
              <a:ext uri="{FF2B5EF4-FFF2-40B4-BE49-F238E27FC236}">
                <a16:creationId xmlns:a16="http://schemas.microsoft.com/office/drawing/2014/main" id="{741CA041-5F7C-CDBA-6220-EC9EF8B980F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547350" y="203535"/>
            <a:ext cx="1384300" cy="990600"/>
          </a:xfrm>
          <a:prstGeom prst="rect">
            <a:avLst/>
          </a:prstGeom>
        </p:spPr>
      </p:pic>
    </p:spTree>
    <p:extLst>
      <p:ext uri="{BB962C8B-B14F-4D97-AF65-F5344CB8AC3E}">
        <p14:creationId xmlns:p14="http://schemas.microsoft.com/office/powerpoint/2010/main" val="37938599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F0C4F4-1C13-8ECF-CD65-2730B2899D6E}"/>
              </a:ext>
            </a:extLst>
          </p:cNvPr>
          <p:cNvSpPr>
            <a:spLocks noGrp="1"/>
          </p:cNvSpPr>
          <p:nvPr>
            <p:ph type="title"/>
          </p:nvPr>
        </p:nvSpPr>
        <p:spPr>
          <a:xfrm>
            <a:off x="838200" y="365125"/>
            <a:ext cx="10515600" cy="1325563"/>
          </a:xfrm>
        </p:spPr>
        <p:txBody>
          <a:bodyPr>
            <a:normAutofit/>
          </a:bodyPr>
          <a:lstStyle/>
          <a:p>
            <a:r>
              <a:rPr lang="en-GB" sz="5400">
                <a:ea typeface="+mj-lt"/>
                <a:cs typeface="+mj-lt"/>
              </a:rPr>
              <a:t>Proposed Technique</a:t>
            </a:r>
            <a:endParaRPr lang="en-US"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3B8118A-645B-A814-1DC8-9FD796A4A005}"/>
              </a:ext>
            </a:extLst>
          </p:cNvPr>
          <p:cNvSpPr>
            <a:spLocks noGrp="1"/>
          </p:cNvSpPr>
          <p:nvPr>
            <p:ph idx="1"/>
          </p:nvPr>
        </p:nvSpPr>
        <p:spPr>
          <a:xfrm>
            <a:off x="838200" y="1929384"/>
            <a:ext cx="10515600" cy="4251960"/>
          </a:xfrm>
        </p:spPr>
        <p:txBody>
          <a:bodyPr vert="horz" lIns="91440" tIns="45720" rIns="91440" bIns="45720" rtlCol="0" anchor="t">
            <a:normAutofit/>
          </a:bodyPr>
          <a:lstStyle/>
          <a:p>
            <a:pPr>
              <a:buNone/>
            </a:pPr>
            <a:r>
              <a:rPr lang="en-GB" sz="2200" dirty="0">
                <a:ea typeface="+mn-lt"/>
                <a:cs typeface="+mn-lt"/>
              </a:rPr>
              <a:t>  Convolutional neural network (CNN)</a:t>
            </a:r>
          </a:p>
          <a:p>
            <a:pPr>
              <a:buNone/>
            </a:pPr>
            <a:r>
              <a:rPr lang="en-GB" sz="2200" dirty="0">
                <a:ea typeface="+mn-lt"/>
                <a:cs typeface="+mn-lt"/>
              </a:rPr>
              <a:t>   A convolutional neural network (CNN) is designed for processing visual data like</a:t>
            </a:r>
          </a:p>
          <a:p>
            <a:r>
              <a:rPr lang="en-GB" sz="2200" dirty="0">
                <a:ea typeface="+mn-lt"/>
                <a:cs typeface="+mn-lt"/>
              </a:rPr>
              <a:t>photos </a:t>
            </a:r>
          </a:p>
          <a:p>
            <a:r>
              <a:rPr lang="en-GB" sz="2200" dirty="0">
                <a:ea typeface="+mn-lt"/>
                <a:cs typeface="+mn-lt"/>
              </a:rPr>
              <a:t>Videos</a:t>
            </a:r>
          </a:p>
          <a:p>
            <a:pPr marL="0" indent="0">
              <a:buNone/>
            </a:pPr>
            <a:endParaRPr lang="en-GB" sz="2200" dirty="0">
              <a:ea typeface="+mn-lt"/>
              <a:cs typeface="+mn-lt"/>
            </a:endParaRPr>
          </a:p>
          <a:p>
            <a:pPr marL="0" indent="0">
              <a:buNone/>
            </a:pPr>
            <a:r>
              <a:rPr lang="en-GB" sz="2200" dirty="0">
                <a:ea typeface="+mn-lt"/>
                <a:cs typeface="+mn-lt"/>
              </a:rPr>
              <a:t>CNNs are highly effective in computer vision tasks like Image classification</a:t>
            </a:r>
            <a:endParaRPr lang="en-GB" sz="2200">
              <a:cs typeface="Calibri"/>
            </a:endParaRPr>
          </a:p>
        </p:txBody>
      </p:sp>
      <p:pic>
        <p:nvPicPr>
          <p:cNvPr id="4" name="Picture 3">
            <a:extLst>
              <a:ext uri="{FF2B5EF4-FFF2-40B4-BE49-F238E27FC236}">
                <a16:creationId xmlns:a16="http://schemas.microsoft.com/office/drawing/2014/main" id="{8421D693-F47F-81B9-D865-A602DC4F97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47350" y="203535"/>
            <a:ext cx="1384300" cy="990600"/>
          </a:xfrm>
          <a:prstGeom prst="rect">
            <a:avLst/>
          </a:prstGeom>
        </p:spPr>
      </p:pic>
    </p:spTree>
    <p:extLst>
      <p:ext uri="{BB962C8B-B14F-4D97-AF65-F5344CB8AC3E}">
        <p14:creationId xmlns:p14="http://schemas.microsoft.com/office/powerpoint/2010/main" val="233093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71B20-5838-0E46-478E-0E8D21153BAA}"/>
              </a:ext>
            </a:extLst>
          </p:cNvPr>
          <p:cNvSpPr>
            <a:spLocks noGrp="1"/>
          </p:cNvSpPr>
          <p:nvPr>
            <p:ph type="title"/>
          </p:nvPr>
        </p:nvSpPr>
        <p:spPr/>
        <p:txBody>
          <a:bodyPr/>
          <a:lstStyle/>
          <a:p>
            <a:r>
              <a:rPr lang="en-GB" dirty="0">
                <a:cs typeface="Calibri Light"/>
              </a:rPr>
              <a:t>CNN</a:t>
            </a:r>
            <a:endParaRPr lang="en-GB" dirty="0"/>
          </a:p>
        </p:txBody>
      </p:sp>
      <p:pic>
        <p:nvPicPr>
          <p:cNvPr id="7" name="Content Placeholder 6" descr="Different Types of CNN Architectures Explained: Examples">
            <a:extLst>
              <a:ext uri="{FF2B5EF4-FFF2-40B4-BE49-F238E27FC236}">
                <a16:creationId xmlns:a16="http://schemas.microsoft.com/office/drawing/2014/main" id="{D70A0488-FCDA-DE0D-443D-E6FF60E4F7AE}"/>
              </a:ext>
            </a:extLst>
          </p:cNvPr>
          <p:cNvPicPr>
            <a:picLocks noGrp="1" noChangeAspect="1"/>
          </p:cNvPicPr>
          <p:nvPr>
            <p:ph idx="1"/>
          </p:nvPr>
        </p:nvPicPr>
        <p:blipFill>
          <a:blip r:embed="rId2"/>
          <a:stretch>
            <a:fillRect/>
          </a:stretch>
        </p:blipFill>
        <p:spPr>
          <a:xfrm>
            <a:off x="1415056" y="1748500"/>
            <a:ext cx="8914763" cy="2906019"/>
          </a:xfrm>
        </p:spPr>
      </p:pic>
      <p:pic>
        <p:nvPicPr>
          <p:cNvPr id="3" name="Picture 2">
            <a:extLst>
              <a:ext uri="{FF2B5EF4-FFF2-40B4-BE49-F238E27FC236}">
                <a16:creationId xmlns:a16="http://schemas.microsoft.com/office/drawing/2014/main" id="{A51D73AA-DC6D-28F8-74C2-1256206953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47350" y="203535"/>
            <a:ext cx="1384300" cy="990600"/>
          </a:xfrm>
          <a:prstGeom prst="rect">
            <a:avLst/>
          </a:prstGeom>
        </p:spPr>
      </p:pic>
    </p:spTree>
    <p:extLst>
      <p:ext uri="{BB962C8B-B14F-4D97-AF65-F5344CB8AC3E}">
        <p14:creationId xmlns:p14="http://schemas.microsoft.com/office/powerpoint/2010/main" val="28059081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FC22F-B1DE-91C2-B067-4BBAD10F6268}"/>
              </a:ext>
            </a:extLst>
          </p:cNvPr>
          <p:cNvSpPr>
            <a:spLocks noGrp="1"/>
          </p:cNvSpPr>
          <p:nvPr>
            <p:ph type="title"/>
          </p:nvPr>
        </p:nvSpPr>
        <p:spPr/>
        <p:txBody>
          <a:bodyPr/>
          <a:lstStyle/>
          <a:p>
            <a:r>
              <a:rPr lang="en-GB" sz="5400" dirty="0">
                <a:cs typeface="Calibri Light"/>
              </a:rPr>
              <a:t>Resnet</a:t>
            </a:r>
            <a:endParaRPr lang="en-US" dirty="0"/>
          </a:p>
        </p:txBody>
      </p:sp>
      <p:pic>
        <p:nvPicPr>
          <p:cNvPr id="4" name="Content Placeholder 3" descr="A diagram of a diagram&#10;&#10;Description automatically generated">
            <a:extLst>
              <a:ext uri="{FF2B5EF4-FFF2-40B4-BE49-F238E27FC236}">
                <a16:creationId xmlns:a16="http://schemas.microsoft.com/office/drawing/2014/main" id="{CD5A7CB1-D4C5-EE15-3946-5A32A6EB6F99}"/>
              </a:ext>
            </a:extLst>
          </p:cNvPr>
          <p:cNvPicPr>
            <a:picLocks noGrp="1" noChangeAspect="1"/>
          </p:cNvPicPr>
          <p:nvPr>
            <p:ph idx="1"/>
          </p:nvPr>
        </p:nvPicPr>
        <p:blipFill>
          <a:blip r:embed="rId2"/>
          <a:stretch>
            <a:fillRect/>
          </a:stretch>
        </p:blipFill>
        <p:spPr>
          <a:xfrm>
            <a:off x="1714461" y="1320676"/>
            <a:ext cx="7742880" cy="4177302"/>
          </a:xfrm>
        </p:spPr>
      </p:pic>
      <p:pic>
        <p:nvPicPr>
          <p:cNvPr id="3" name="Picture 2">
            <a:extLst>
              <a:ext uri="{FF2B5EF4-FFF2-40B4-BE49-F238E27FC236}">
                <a16:creationId xmlns:a16="http://schemas.microsoft.com/office/drawing/2014/main" id="{5AEC28F6-E38A-815C-62BF-0DF1B187D7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47350" y="203535"/>
            <a:ext cx="1384300" cy="990600"/>
          </a:xfrm>
          <a:prstGeom prst="rect">
            <a:avLst/>
          </a:prstGeom>
        </p:spPr>
      </p:pic>
    </p:spTree>
    <p:extLst>
      <p:ext uri="{BB962C8B-B14F-4D97-AF65-F5344CB8AC3E}">
        <p14:creationId xmlns:p14="http://schemas.microsoft.com/office/powerpoint/2010/main" val="34107342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9AB51-9448-74A7-F9E7-E8253A6F3A07}"/>
              </a:ext>
            </a:extLst>
          </p:cNvPr>
          <p:cNvSpPr>
            <a:spLocks noGrp="1"/>
          </p:cNvSpPr>
          <p:nvPr>
            <p:ph type="title"/>
          </p:nvPr>
        </p:nvSpPr>
        <p:spPr/>
        <p:txBody>
          <a:bodyPr/>
          <a:lstStyle/>
          <a:p>
            <a:r>
              <a:rPr lang="en-GB" dirty="0">
                <a:ea typeface="Calibri Light"/>
                <a:cs typeface="Calibri Light"/>
              </a:rPr>
              <a:t>VGG</a:t>
            </a:r>
            <a:endParaRPr lang="en-GB" dirty="0"/>
          </a:p>
        </p:txBody>
      </p:sp>
      <p:pic>
        <p:nvPicPr>
          <p:cNvPr id="7" name="Content Placeholder 6" descr="VGG-Net Architecture Explained. The company Visual Geometry Group… | by  Siddhesh Bangar | Medium">
            <a:extLst>
              <a:ext uri="{FF2B5EF4-FFF2-40B4-BE49-F238E27FC236}">
                <a16:creationId xmlns:a16="http://schemas.microsoft.com/office/drawing/2014/main" id="{B61FDEEC-601C-A727-5D72-FCAEE3882F6F}"/>
              </a:ext>
            </a:extLst>
          </p:cNvPr>
          <p:cNvPicPr>
            <a:picLocks noGrp="1" noChangeAspect="1"/>
          </p:cNvPicPr>
          <p:nvPr>
            <p:ph idx="1"/>
          </p:nvPr>
        </p:nvPicPr>
        <p:blipFill>
          <a:blip r:embed="rId2"/>
          <a:stretch>
            <a:fillRect/>
          </a:stretch>
        </p:blipFill>
        <p:spPr>
          <a:xfrm>
            <a:off x="1764494" y="1252551"/>
            <a:ext cx="7756169" cy="4924412"/>
          </a:xfrm>
        </p:spPr>
      </p:pic>
      <p:pic>
        <p:nvPicPr>
          <p:cNvPr id="3" name="Picture 2">
            <a:extLst>
              <a:ext uri="{FF2B5EF4-FFF2-40B4-BE49-F238E27FC236}">
                <a16:creationId xmlns:a16="http://schemas.microsoft.com/office/drawing/2014/main" id="{D9A9E65F-2922-B3D8-55CB-AB385D9337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47350" y="203535"/>
            <a:ext cx="1384300" cy="990600"/>
          </a:xfrm>
          <a:prstGeom prst="rect">
            <a:avLst/>
          </a:prstGeom>
        </p:spPr>
      </p:pic>
    </p:spTree>
    <p:extLst>
      <p:ext uri="{BB962C8B-B14F-4D97-AF65-F5344CB8AC3E}">
        <p14:creationId xmlns:p14="http://schemas.microsoft.com/office/powerpoint/2010/main" val="25084989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68A5EA-28A5-EFE5-8286-946A7945FD93}"/>
              </a:ext>
            </a:extLst>
          </p:cNvPr>
          <p:cNvSpPr>
            <a:spLocks noGrp="1"/>
          </p:cNvSpPr>
          <p:nvPr>
            <p:ph type="title"/>
          </p:nvPr>
        </p:nvSpPr>
        <p:spPr>
          <a:xfrm>
            <a:off x="838200" y="365125"/>
            <a:ext cx="10515600" cy="1325563"/>
          </a:xfrm>
        </p:spPr>
        <p:txBody>
          <a:bodyPr>
            <a:normAutofit/>
          </a:bodyPr>
          <a:lstStyle/>
          <a:p>
            <a:r>
              <a:rPr lang="en-US" sz="5400">
                <a:ea typeface="+mj-lt"/>
                <a:cs typeface="+mj-lt"/>
              </a:rPr>
              <a:t>Challenges and Issues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013777D-3C73-F6B3-0507-414D6832F328}"/>
              </a:ext>
            </a:extLst>
          </p:cNvPr>
          <p:cNvSpPr>
            <a:spLocks noGrp="1"/>
          </p:cNvSpPr>
          <p:nvPr>
            <p:ph idx="1"/>
          </p:nvPr>
        </p:nvSpPr>
        <p:spPr>
          <a:xfrm>
            <a:off x="838200" y="1929384"/>
            <a:ext cx="10515600" cy="4251960"/>
          </a:xfrm>
        </p:spPr>
        <p:txBody>
          <a:bodyPr vert="horz" lIns="91440" tIns="45720" rIns="91440" bIns="45720" rtlCol="0">
            <a:normAutofit/>
          </a:bodyPr>
          <a:lstStyle/>
          <a:p>
            <a:r>
              <a:rPr lang="en-US" sz="2200">
                <a:cs typeface="Calibri"/>
              </a:rPr>
              <a:t>Smaller data tend to overfit</a:t>
            </a:r>
          </a:p>
          <a:p>
            <a:r>
              <a:rPr lang="en-US" sz="2200">
                <a:cs typeface="Calibri"/>
              </a:rPr>
              <a:t>Images from various sources is essential</a:t>
            </a:r>
          </a:p>
          <a:p>
            <a:r>
              <a:rPr lang="en-US" sz="2200">
                <a:cs typeface="Calibri"/>
              </a:rPr>
              <a:t>Harder to fit bigger data as more memory required</a:t>
            </a:r>
          </a:p>
          <a:p>
            <a:r>
              <a:rPr lang="en-US" sz="2200">
                <a:cs typeface="Calibri"/>
              </a:rPr>
              <a:t>Bigger data is computationally hungry requiring time </a:t>
            </a:r>
          </a:p>
          <a:p>
            <a:r>
              <a:rPr lang="en-US" sz="2200">
                <a:cs typeface="Calibri"/>
              </a:rPr>
              <a:t>Resizing image may deteriorate the quality</a:t>
            </a:r>
          </a:p>
        </p:txBody>
      </p:sp>
      <p:pic>
        <p:nvPicPr>
          <p:cNvPr id="4" name="Picture 3">
            <a:extLst>
              <a:ext uri="{FF2B5EF4-FFF2-40B4-BE49-F238E27FC236}">
                <a16:creationId xmlns:a16="http://schemas.microsoft.com/office/drawing/2014/main" id="{2B92D6EE-D9A9-0530-F321-71B1F47182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47350" y="203535"/>
            <a:ext cx="1384300" cy="990600"/>
          </a:xfrm>
          <a:prstGeom prst="rect">
            <a:avLst/>
          </a:prstGeom>
        </p:spPr>
      </p:pic>
    </p:spTree>
    <p:extLst>
      <p:ext uri="{BB962C8B-B14F-4D97-AF65-F5344CB8AC3E}">
        <p14:creationId xmlns:p14="http://schemas.microsoft.com/office/powerpoint/2010/main" val="42830871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B2B1F0-0DD6-4744-9A46-7A344FB48E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416E96-E62D-CF9A-08C8-800CCF0AFF35}"/>
              </a:ext>
            </a:extLst>
          </p:cNvPr>
          <p:cNvSpPr>
            <a:spLocks noGrp="1"/>
          </p:cNvSpPr>
          <p:nvPr>
            <p:ph type="title"/>
          </p:nvPr>
        </p:nvSpPr>
        <p:spPr>
          <a:xfrm>
            <a:off x="841248" y="426720"/>
            <a:ext cx="10506456" cy="1919141"/>
          </a:xfrm>
        </p:spPr>
        <p:txBody>
          <a:bodyPr anchor="b">
            <a:normAutofit/>
          </a:bodyPr>
          <a:lstStyle/>
          <a:p>
            <a:r>
              <a:rPr lang="en-GB" sz="6000">
                <a:ea typeface="+mj-lt"/>
                <a:cs typeface="+mj-lt"/>
              </a:rPr>
              <a:t>Dataset</a:t>
            </a:r>
            <a:endParaRPr lang="en-US" sz="6000"/>
          </a:p>
        </p:txBody>
      </p:sp>
      <p:sp>
        <p:nvSpPr>
          <p:cNvPr id="10" name="Rectangle 9">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2899927"/>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2" name="Rectangle 11">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2776031"/>
            <a:ext cx="1873457"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6A87552F-C770-E8C6-ACAF-18431D210CD9}"/>
              </a:ext>
            </a:extLst>
          </p:cNvPr>
          <p:cNvSpPr>
            <a:spLocks noGrp="1"/>
          </p:cNvSpPr>
          <p:nvPr>
            <p:ph idx="1"/>
          </p:nvPr>
        </p:nvSpPr>
        <p:spPr>
          <a:xfrm>
            <a:off x="841248" y="3337269"/>
            <a:ext cx="10509504" cy="2905686"/>
          </a:xfrm>
        </p:spPr>
        <p:txBody>
          <a:bodyPr vert="horz" lIns="91440" tIns="45720" rIns="91440" bIns="45720" rtlCol="0" anchor="t">
            <a:normAutofit fontScale="92500" lnSpcReduction="20000"/>
          </a:bodyPr>
          <a:lstStyle/>
          <a:p>
            <a:pPr marL="0" indent="0">
              <a:buNone/>
            </a:pPr>
            <a:r>
              <a:rPr lang="en-US" sz="2200" dirty="0">
                <a:latin typeface="Times New Roman"/>
                <a:cs typeface="Times New Roman"/>
              </a:rPr>
              <a:t>AI generated Portraits</a:t>
            </a:r>
            <a:endParaRPr lang="en-GB" sz="2200" dirty="0">
              <a:latin typeface="Times New Roman"/>
              <a:cs typeface="Times New Roman"/>
            </a:endParaRPr>
          </a:p>
          <a:p>
            <a:pPr marL="0" indent="0">
              <a:buNone/>
            </a:pPr>
            <a:r>
              <a:rPr lang="en-US" sz="1600" u="sng" dirty="0">
                <a:cs typeface="Calibri"/>
                <a:hlinkClick r:id="rId2"/>
              </a:rPr>
              <a:t>https://www.kaggle.com/datasets/bwandowando/all-these-people-dont-exist</a:t>
            </a:r>
            <a:endParaRPr lang="en-GB" sz="1600">
              <a:cs typeface="Calibri"/>
            </a:endParaRPr>
          </a:p>
          <a:p>
            <a:endParaRPr lang="en-GB" sz="2200">
              <a:cs typeface="Calibri"/>
            </a:endParaRPr>
          </a:p>
          <a:p>
            <a:pPr marL="0" indent="0">
              <a:buNone/>
            </a:pPr>
            <a:r>
              <a:rPr lang="en-US" sz="2200" dirty="0">
                <a:cs typeface="Calibri"/>
              </a:rPr>
              <a:t>Real Portraits</a:t>
            </a:r>
            <a:endParaRPr lang="en-GB" sz="2200" dirty="0">
              <a:cs typeface="Calibri"/>
            </a:endParaRPr>
          </a:p>
          <a:p>
            <a:pPr marL="0" indent="0">
              <a:buNone/>
            </a:pPr>
            <a:r>
              <a:rPr lang="en-US" sz="1600" u="sng" dirty="0">
                <a:cs typeface="Calibri"/>
                <a:hlinkClick r:id="rId3"/>
              </a:rPr>
              <a:t>https://www.kaggle.com/datasets/ashwingupta3012/human-faces?rvi=1</a:t>
            </a:r>
            <a:endParaRPr lang="en-US" sz="1600" u="sng">
              <a:cs typeface="Calibri"/>
            </a:endParaRPr>
          </a:p>
          <a:p>
            <a:pPr marL="0" indent="0">
              <a:buNone/>
            </a:pPr>
            <a:endParaRPr lang="en-US" sz="2200" u="sng" dirty="0">
              <a:cs typeface="Calibri"/>
            </a:endParaRPr>
          </a:p>
          <a:p>
            <a:pPr marL="0" indent="0">
              <a:buNone/>
            </a:pPr>
            <a:r>
              <a:rPr lang="en-US" sz="2000" dirty="0">
                <a:cs typeface="Calibri"/>
              </a:rPr>
              <a:t>Combined</a:t>
            </a:r>
          </a:p>
          <a:p>
            <a:pPr marL="0" indent="0">
              <a:buNone/>
            </a:pPr>
            <a:br>
              <a:rPr lang="en-US" sz="1600" u="sng" dirty="0">
                <a:cs typeface="Calibri"/>
              </a:rPr>
            </a:br>
            <a:r>
              <a:rPr lang="en-US" sz="1600" u="sng" dirty="0">
                <a:cs typeface="Calibri"/>
                <a:hlinkClick r:id="rId4"/>
              </a:rPr>
              <a:t>https://www.kaggle.com/datasets/philosopher0808/real-vs-ai-generated-faces-dataset/data?select=dataset</a:t>
            </a:r>
            <a:endParaRPr lang="en-US" sz="1600">
              <a:cs typeface="Calibri"/>
            </a:endParaRPr>
          </a:p>
          <a:p>
            <a:endParaRPr lang="en-GB" sz="2200">
              <a:cs typeface="Calibri"/>
            </a:endParaRPr>
          </a:p>
        </p:txBody>
      </p:sp>
      <p:pic>
        <p:nvPicPr>
          <p:cNvPr id="4" name="Picture 3">
            <a:extLst>
              <a:ext uri="{FF2B5EF4-FFF2-40B4-BE49-F238E27FC236}">
                <a16:creationId xmlns:a16="http://schemas.microsoft.com/office/drawing/2014/main" id="{85022180-D6A0-98B9-8979-A28DD7E329C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47350" y="203535"/>
            <a:ext cx="1384300" cy="990600"/>
          </a:xfrm>
          <a:prstGeom prst="rect">
            <a:avLst/>
          </a:prstGeom>
        </p:spPr>
      </p:pic>
    </p:spTree>
    <p:extLst>
      <p:ext uri="{BB962C8B-B14F-4D97-AF65-F5344CB8AC3E}">
        <p14:creationId xmlns:p14="http://schemas.microsoft.com/office/powerpoint/2010/main" val="30958796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0F24D-C360-33AB-AE85-1E6083A6A688}"/>
              </a:ext>
            </a:extLst>
          </p:cNvPr>
          <p:cNvSpPr>
            <a:spLocks noGrp="1"/>
          </p:cNvSpPr>
          <p:nvPr>
            <p:ph type="title"/>
          </p:nvPr>
        </p:nvSpPr>
        <p:spPr/>
        <p:txBody>
          <a:bodyPr/>
          <a:lstStyle/>
          <a:p>
            <a:r>
              <a:rPr lang="en-GB" dirty="0">
                <a:cs typeface="Calibri Light"/>
              </a:rPr>
              <a:t>CNN</a:t>
            </a:r>
            <a:endParaRPr lang="en-GB" dirty="0"/>
          </a:p>
        </p:txBody>
      </p:sp>
      <p:pic>
        <p:nvPicPr>
          <p:cNvPr id="4" name="Content Placeholder 3" descr="A screenshot of a computer program&#10;&#10;Description automatically generated">
            <a:extLst>
              <a:ext uri="{FF2B5EF4-FFF2-40B4-BE49-F238E27FC236}">
                <a16:creationId xmlns:a16="http://schemas.microsoft.com/office/drawing/2014/main" id="{720E6FE6-2C33-CBEE-1F8D-1CD05FFA16DB}"/>
              </a:ext>
            </a:extLst>
          </p:cNvPr>
          <p:cNvPicPr>
            <a:picLocks noGrp="1" noChangeAspect="1"/>
          </p:cNvPicPr>
          <p:nvPr>
            <p:ph idx="1"/>
          </p:nvPr>
        </p:nvPicPr>
        <p:blipFill>
          <a:blip r:embed="rId2"/>
          <a:stretch>
            <a:fillRect/>
          </a:stretch>
        </p:blipFill>
        <p:spPr>
          <a:xfrm>
            <a:off x="985878" y="1684846"/>
            <a:ext cx="6250132" cy="4355947"/>
          </a:xfrm>
        </p:spPr>
      </p:pic>
      <p:pic>
        <p:nvPicPr>
          <p:cNvPr id="3" name="Picture 2" descr="A blue squares with numbers and labels&#10;&#10;Description automatically generated">
            <a:extLst>
              <a:ext uri="{FF2B5EF4-FFF2-40B4-BE49-F238E27FC236}">
                <a16:creationId xmlns:a16="http://schemas.microsoft.com/office/drawing/2014/main" id="{B38E60B6-A6EA-5297-7498-AED528396052}"/>
              </a:ext>
            </a:extLst>
          </p:cNvPr>
          <p:cNvPicPr>
            <a:picLocks noChangeAspect="1"/>
          </p:cNvPicPr>
          <p:nvPr/>
        </p:nvPicPr>
        <p:blipFill>
          <a:blip r:embed="rId3"/>
          <a:stretch>
            <a:fillRect/>
          </a:stretch>
        </p:blipFill>
        <p:spPr>
          <a:xfrm>
            <a:off x="7238999" y="1686791"/>
            <a:ext cx="4953000" cy="3726873"/>
          </a:xfrm>
          <a:prstGeom prst="rect">
            <a:avLst/>
          </a:prstGeom>
        </p:spPr>
      </p:pic>
      <p:pic>
        <p:nvPicPr>
          <p:cNvPr id="5" name="Picture 4">
            <a:extLst>
              <a:ext uri="{FF2B5EF4-FFF2-40B4-BE49-F238E27FC236}">
                <a16:creationId xmlns:a16="http://schemas.microsoft.com/office/drawing/2014/main" id="{3AD2F70A-3324-36DE-9437-5963298DB9E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47350" y="203535"/>
            <a:ext cx="1384300" cy="990600"/>
          </a:xfrm>
          <a:prstGeom prst="rect">
            <a:avLst/>
          </a:prstGeom>
        </p:spPr>
      </p:pic>
    </p:spTree>
    <p:extLst>
      <p:ext uri="{BB962C8B-B14F-4D97-AF65-F5344CB8AC3E}">
        <p14:creationId xmlns:p14="http://schemas.microsoft.com/office/powerpoint/2010/main" val="18767627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A0B2E-968E-7EE7-F0EF-B43C5F867BB5}"/>
              </a:ext>
            </a:extLst>
          </p:cNvPr>
          <p:cNvSpPr>
            <a:spLocks noGrp="1"/>
          </p:cNvSpPr>
          <p:nvPr>
            <p:ph type="title"/>
          </p:nvPr>
        </p:nvSpPr>
        <p:spPr/>
        <p:txBody>
          <a:bodyPr/>
          <a:lstStyle/>
          <a:p>
            <a:r>
              <a:rPr lang="en-GB" dirty="0">
                <a:ea typeface="Calibri Light"/>
                <a:cs typeface="Calibri Light"/>
              </a:rPr>
              <a:t>Resnet</a:t>
            </a:r>
            <a:endParaRPr lang="en-GB" dirty="0"/>
          </a:p>
        </p:txBody>
      </p:sp>
      <p:pic>
        <p:nvPicPr>
          <p:cNvPr id="4" name="Content Placeholder 3" descr="A screenshot of a computer&#10;&#10;Description automatically generated">
            <a:extLst>
              <a:ext uri="{FF2B5EF4-FFF2-40B4-BE49-F238E27FC236}">
                <a16:creationId xmlns:a16="http://schemas.microsoft.com/office/drawing/2014/main" id="{2596A0DD-5D07-EED6-549E-C2EF1611A32F}"/>
              </a:ext>
            </a:extLst>
          </p:cNvPr>
          <p:cNvPicPr>
            <a:picLocks noGrp="1" noChangeAspect="1"/>
          </p:cNvPicPr>
          <p:nvPr>
            <p:ph idx="1"/>
          </p:nvPr>
        </p:nvPicPr>
        <p:blipFill>
          <a:blip r:embed="rId2"/>
          <a:stretch>
            <a:fillRect/>
          </a:stretch>
        </p:blipFill>
        <p:spPr>
          <a:xfrm>
            <a:off x="1000125" y="1881981"/>
            <a:ext cx="5786005" cy="3379644"/>
          </a:xfrm>
        </p:spPr>
      </p:pic>
      <p:pic>
        <p:nvPicPr>
          <p:cNvPr id="3" name="Picture 2" descr="A blue squares with numbers and labels&#10;&#10;Description automatically generated">
            <a:extLst>
              <a:ext uri="{FF2B5EF4-FFF2-40B4-BE49-F238E27FC236}">
                <a16:creationId xmlns:a16="http://schemas.microsoft.com/office/drawing/2014/main" id="{1EF294CD-0737-ADEA-F05A-52E522E98F68}"/>
              </a:ext>
            </a:extLst>
          </p:cNvPr>
          <p:cNvPicPr>
            <a:picLocks noChangeAspect="1"/>
          </p:cNvPicPr>
          <p:nvPr/>
        </p:nvPicPr>
        <p:blipFill>
          <a:blip r:embed="rId3"/>
          <a:stretch>
            <a:fillRect/>
          </a:stretch>
        </p:blipFill>
        <p:spPr>
          <a:xfrm>
            <a:off x="6788727" y="1873827"/>
            <a:ext cx="5022273" cy="3768437"/>
          </a:xfrm>
          <a:prstGeom prst="rect">
            <a:avLst/>
          </a:prstGeom>
        </p:spPr>
      </p:pic>
      <p:pic>
        <p:nvPicPr>
          <p:cNvPr id="5" name="Picture 4">
            <a:extLst>
              <a:ext uri="{FF2B5EF4-FFF2-40B4-BE49-F238E27FC236}">
                <a16:creationId xmlns:a16="http://schemas.microsoft.com/office/drawing/2014/main" id="{4C80A234-7D44-7550-5B2B-23B9175185B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47350" y="203535"/>
            <a:ext cx="1384300" cy="990600"/>
          </a:xfrm>
          <a:prstGeom prst="rect">
            <a:avLst/>
          </a:prstGeom>
        </p:spPr>
      </p:pic>
    </p:spTree>
    <p:extLst>
      <p:ext uri="{BB962C8B-B14F-4D97-AF65-F5344CB8AC3E}">
        <p14:creationId xmlns:p14="http://schemas.microsoft.com/office/powerpoint/2010/main" val="38309033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D837E-C80A-5E55-6561-652ABFD40FA4}"/>
              </a:ext>
            </a:extLst>
          </p:cNvPr>
          <p:cNvSpPr>
            <a:spLocks noGrp="1"/>
          </p:cNvSpPr>
          <p:nvPr>
            <p:ph type="title"/>
          </p:nvPr>
        </p:nvSpPr>
        <p:spPr/>
        <p:txBody>
          <a:bodyPr/>
          <a:lstStyle/>
          <a:p>
            <a:r>
              <a:rPr lang="en-GB" dirty="0">
                <a:ea typeface="Calibri Light"/>
                <a:cs typeface="Calibri Light"/>
              </a:rPr>
              <a:t>VGG</a:t>
            </a:r>
            <a:endParaRPr lang="en-GB" dirty="0"/>
          </a:p>
        </p:txBody>
      </p:sp>
      <p:pic>
        <p:nvPicPr>
          <p:cNvPr id="4" name="Content Placeholder 3" descr="A screenshot of a computer program&#10;&#10;Description automatically generated">
            <a:extLst>
              <a:ext uri="{FF2B5EF4-FFF2-40B4-BE49-F238E27FC236}">
                <a16:creationId xmlns:a16="http://schemas.microsoft.com/office/drawing/2014/main" id="{40A7646B-AF3F-55B1-DEAB-89BCE9D97D42}"/>
              </a:ext>
            </a:extLst>
          </p:cNvPr>
          <p:cNvPicPr>
            <a:picLocks noGrp="1" noChangeAspect="1"/>
          </p:cNvPicPr>
          <p:nvPr>
            <p:ph idx="1"/>
          </p:nvPr>
        </p:nvPicPr>
        <p:blipFill>
          <a:blip r:embed="rId2"/>
          <a:stretch>
            <a:fillRect/>
          </a:stretch>
        </p:blipFill>
        <p:spPr>
          <a:xfrm>
            <a:off x="623336" y="2186231"/>
            <a:ext cx="6176214" cy="3176705"/>
          </a:xfrm>
        </p:spPr>
      </p:pic>
      <p:pic>
        <p:nvPicPr>
          <p:cNvPr id="3" name="Picture 2" descr="A blue squares with numbers and labels&#10;&#10;Description automatically generated">
            <a:extLst>
              <a:ext uri="{FF2B5EF4-FFF2-40B4-BE49-F238E27FC236}">
                <a16:creationId xmlns:a16="http://schemas.microsoft.com/office/drawing/2014/main" id="{25A17EA8-7E4B-5748-9DE9-3CD9C88998E9}"/>
              </a:ext>
            </a:extLst>
          </p:cNvPr>
          <p:cNvPicPr>
            <a:picLocks noChangeAspect="1"/>
          </p:cNvPicPr>
          <p:nvPr/>
        </p:nvPicPr>
        <p:blipFill>
          <a:blip r:embed="rId3"/>
          <a:stretch>
            <a:fillRect/>
          </a:stretch>
        </p:blipFill>
        <p:spPr>
          <a:xfrm>
            <a:off x="6802582" y="1901536"/>
            <a:ext cx="4772891" cy="3581400"/>
          </a:xfrm>
          <a:prstGeom prst="rect">
            <a:avLst/>
          </a:prstGeom>
        </p:spPr>
      </p:pic>
      <p:pic>
        <p:nvPicPr>
          <p:cNvPr id="5" name="Picture 4">
            <a:extLst>
              <a:ext uri="{FF2B5EF4-FFF2-40B4-BE49-F238E27FC236}">
                <a16:creationId xmlns:a16="http://schemas.microsoft.com/office/drawing/2014/main" id="{EEF4C617-5968-4B05-27D8-A33B8C37A50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47350" y="203535"/>
            <a:ext cx="1384300" cy="990600"/>
          </a:xfrm>
          <a:prstGeom prst="rect">
            <a:avLst/>
          </a:prstGeom>
        </p:spPr>
      </p:pic>
    </p:spTree>
    <p:extLst>
      <p:ext uri="{BB962C8B-B14F-4D97-AF65-F5344CB8AC3E}">
        <p14:creationId xmlns:p14="http://schemas.microsoft.com/office/powerpoint/2010/main" val="21944383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EBA71-79C0-A4A6-2F3B-D6406F5ACC6D}"/>
              </a:ext>
            </a:extLst>
          </p:cNvPr>
          <p:cNvSpPr>
            <a:spLocks noGrp="1"/>
          </p:cNvSpPr>
          <p:nvPr>
            <p:ph type="title"/>
          </p:nvPr>
        </p:nvSpPr>
        <p:spPr/>
        <p:txBody>
          <a:bodyPr/>
          <a:lstStyle/>
          <a:p>
            <a:r>
              <a:rPr lang="en-GB" dirty="0">
                <a:cs typeface="Calibri Light"/>
              </a:rPr>
              <a:t>CNN(Bigger data)</a:t>
            </a:r>
            <a:endParaRPr lang="en-GB" dirty="0"/>
          </a:p>
        </p:txBody>
      </p:sp>
      <p:pic>
        <p:nvPicPr>
          <p:cNvPr id="6" name="Content Placeholder 5" descr="A blue squares with numbers and labels&#10;&#10;Description automatically generated">
            <a:extLst>
              <a:ext uri="{FF2B5EF4-FFF2-40B4-BE49-F238E27FC236}">
                <a16:creationId xmlns:a16="http://schemas.microsoft.com/office/drawing/2014/main" id="{58D8BD96-4153-44B5-E428-47AB9772D3ED}"/>
              </a:ext>
            </a:extLst>
          </p:cNvPr>
          <p:cNvPicPr>
            <a:picLocks noGrp="1" noChangeAspect="1"/>
          </p:cNvPicPr>
          <p:nvPr>
            <p:ph idx="1"/>
          </p:nvPr>
        </p:nvPicPr>
        <p:blipFill>
          <a:blip r:embed="rId2"/>
          <a:stretch>
            <a:fillRect/>
          </a:stretch>
        </p:blipFill>
        <p:spPr>
          <a:xfrm>
            <a:off x="227461" y="1437698"/>
            <a:ext cx="5821188" cy="4351338"/>
          </a:xfrm>
        </p:spPr>
      </p:pic>
      <p:pic>
        <p:nvPicPr>
          <p:cNvPr id="7" name="Picture 6">
            <a:extLst>
              <a:ext uri="{FF2B5EF4-FFF2-40B4-BE49-F238E27FC236}">
                <a16:creationId xmlns:a16="http://schemas.microsoft.com/office/drawing/2014/main" id="{C5D332AA-B6AC-2379-8AE7-6D2611E102E8}"/>
              </a:ext>
            </a:extLst>
          </p:cNvPr>
          <p:cNvPicPr>
            <a:picLocks noChangeAspect="1"/>
          </p:cNvPicPr>
          <p:nvPr/>
        </p:nvPicPr>
        <p:blipFill>
          <a:blip r:embed="rId3"/>
          <a:stretch>
            <a:fillRect/>
          </a:stretch>
        </p:blipFill>
        <p:spPr>
          <a:xfrm>
            <a:off x="6047509" y="1440007"/>
            <a:ext cx="5818909" cy="4352059"/>
          </a:xfrm>
          <a:prstGeom prst="rect">
            <a:avLst/>
          </a:prstGeom>
        </p:spPr>
      </p:pic>
      <p:pic>
        <p:nvPicPr>
          <p:cNvPr id="3" name="Picture 2">
            <a:extLst>
              <a:ext uri="{FF2B5EF4-FFF2-40B4-BE49-F238E27FC236}">
                <a16:creationId xmlns:a16="http://schemas.microsoft.com/office/drawing/2014/main" id="{2B6B4483-ECD2-D3A9-F4CA-903047ACF4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47350" y="203535"/>
            <a:ext cx="1384300" cy="990600"/>
          </a:xfrm>
          <a:prstGeom prst="rect">
            <a:avLst/>
          </a:prstGeom>
        </p:spPr>
      </p:pic>
    </p:spTree>
    <p:extLst>
      <p:ext uri="{BB962C8B-B14F-4D97-AF65-F5344CB8AC3E}">
        <p14:creationId xmlns:p14="http://schemas.microsoft.com/office/powerpoint/2010/main" val="8701478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269D2-FB4D-312E-AC86-E9A344CC4ED0}"/>
              </a:ext>
            </a:extLst>
          </p:cNvPr>
          <p:cNvSpPr>
            <a:spLocks noGrp="1"/>
          </p:cNvSpPr>
          <p:nvPr>
            <p:ph type="title"/>
          </p:nvPr>
        </p:nvSpPr>
        <p:spPr/>
        <p:txBody>
          <a:bodyPr/>
          <a:lstStyle/>
          <a:p>
            <a:endParaRPr lang="en-GB"/>
          </a:p>
        </p:txBody>
      </p:sp>
      <p:pic>
        <p:nvPicPr>
          <p:cNvPr id="5" name="Picture 4" descr="A screenshot of a computer&#10;&#10;Description automatically generated">
            <a:extLst>
              <a:ext uri="{FF2B5EF4-FFF2-40B4-BE49-F238E27FC236}">
                <a16:creationId xmlns:a16="http://schemas.microsoft.com/office/drawing/2014/main" id="{09714610-D94C-C5AE-ABB7-C1EABFEEB6AB}"/>
              </a:ext>
            </a:extLst>
          </p:cNvPr>
          <p:cNvPicPr>
            <a:picLocks noChangeAspect="1"/>
          </p:cNvPicPr>
          <p:nvPr/>
        </p:nvPicPr>
        <p:blipFill>
          <a:blip r:embed="rId2"/>
          <a:stretch>
            <a:fillRect/>
          </a:stretch>
        </p:blipFill>
        <p:spPr>
          <a:xfrm>
            <a:off x="5969749" y="2373612"/>
            <a:ext cx="2711030" cy="2901530"/>
          </a:xfrm>
          <a:prstGeom prst="rect">
            <a:avLst/>
          </a:prstGeom>
        </p:spPr>
      </p:pic>
      <p:pic>
        <p:nvPicPr>
          <p:cNvPr id="7" name="Content Placeholder 6" descr="A person with a beard&#10;&#10;Description automatically generated">
            <a:extLst>
              <a:ext uri="{FF2B5EF4-FFF2-40B4-BE49-F238E27FC236}">
                <a16:creationId xmlns:a16="http://schemas.microsoft.com/office/drawing/2014/main" id="{A864D93B-19CD-0FE3-C2AB-5B81F84D0F2A}"/>
              </a:ext>
            </a:extLst>
          </p:cNvPr>
          <p:cNvPicPr>
            <a:picLocks noGrp="1" noChangeAspect="1"/>
          </p:cNvPicPr>
          <p:nvPr>
            <p:ph idx="1"/>
          </p:nvPr>
        </p:nvPicPr>
        <p:blipFill>
          <a:blip r:embed="rId3"/>
          <a:stretch>
            <a:fillRect/>
          </a:stretch>
        </p:blipFill>
        <p:spPr>
          <a:xfrm>
            <a:off x="2509704" y="2516246"/>
            <a:ext cx="2089438" cy="2647950"/>
          </a:xfrm>
        </p:spPr>
      </p:pic>
      <p:pic>
        <p:nvPicPr>
          <p:cNvPr id="3" name="Picture 2">
            <a:extLst>
              <a:ext uri="{FF2B5EF4-FFF2-40B4-BE49-F238E27FC236}">
                <a16:creationId xmlns:a16="http://schemas.microsoft.com/office/drawing/2014/main" id="{A9F95C0E-2518-8A58-17E3-3DF2DFA91F6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47350" y="203535"/>
            <a:ext cx="1384300" cy="990600"/>
          </a:xfrm>
          <a:prstGeom prst="rect">
            <a:avLst/>
          </a:prstGeom>
        </p:spPr>
      </p:pic>
    </p:spTree>
    <p:extLst>
      <p:ext uri="{BB962C8B-B14F-4D97-AF65-F5344CB8AC3E}">
        <p14:creationId xmlns:p14="http://schemas.microsoft.com/office/powerpoint/2010/main" val="16607357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B2B1F0-0DD6-4744-9A46-7A344FB48E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6B6224-9B38-DF1E-EC7B-37CAFD94F3A2}"/>
              </a:ext>
            </a:extLst>
          </p:cNvPr>
          <p:cNvSpPr>
            <a:spLocks noGrp="1"/>
          </p:cNvSpPr>
          <p:nvPr>
            <p:ph type="title"/>
          </p:nvPr>
        </p:nvSpPr>
        <p:spPr>
          <a:xfrm>
            <a:off x="841248" y="426720"/>
            <a:ext cx="10506456" cy="1919141"/>
          </a:xfrm>
        </p:spPr>
        <p:txBody>
          <a:bodyPr anchor="b">
            <a:normAutofit/>
          </a:bodyPr>
          <a:lstStyle/>
          <a:p>
            <a:r>
              <a:rPr lang="en-US" sz="6000" dirty="0">
                <a:latin typeface="Calibri"/>
                <a:cs typeface="Calibri"/>
              </a:rPr>
              <a:t>Conclusion</a:t>
            </a:r>
          </a:p>
          <a:p>
            <a:endParaRPr lang="en-GB" sz="6000" dirty="0">
              <a:latin typeface="Calibri Light"/>
              <a:ea typeface="Calibri Light"/>
              <a:cs typeface="Calibri Light"/>
            </a:endParaRPr>
          </a:p>
        </p:txBody>
      </p:sp>
      <p:sp>
        <p:nvSpPr>
          <p:cNvPr id="10" name="Rectangle 9">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2899927"/>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2" name="Rectangle 11">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2776031"/>
            <a:ext cx="1873457"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34BAA7A3-522E-E588-918D-90310DCAEF1E}"/>
              </a:ext>
            </a:extLst>
          </p:cNvPr>
          <p:cNvSpPr>
            <a:spLocks noGrp="1"/>
          </p:cNvSpPr>
          <p:nvPr>
            <p:ph idx="1"/>
          </p:nvPr>
        </p:nvSpPr>
        <p:spPr>
          <a:xfrm>
            <a:off x="841248" y="3337269"/>
            <a:ext cx="10509504" cy="2905686"/>
          </a:xfrm>
        </p:spPr>
        <p:txBody>
          <a:bodyPr vert="horz" lIns="91440" tIns="45720" rIns="91440" bIns="45720" rtlCol="0" anchor="t">
            <a:normAutofit/>
          </a:bodyPr>
          <a:lstStyle/>
          <a:p>
            <a:pPr>
              <a:buNone/>
            </a:pPr>
            <a:r>
              <a:rPr lang="en-US" sz="2200" dirty="0">
                <a:latin typeface="Times New Roman"/>
                <a:cs typeface="Times New Roman"/>
              </a:rPr>
              <a:t>  As the prevalence of synthetic images is rising more complex and computational heavy model are required to solve problems as the one in this project. The images will get more realistic but so will the models also be improved.</a:t>
            </a:r>
          </a:p>
          <a:p>
            <a:pPr>
              <a:buNone/>
            </a:pPr>
            <a:endParaRPr lang="en-US" sz="2200" dirty="0">
              <a:latin typeface="Times New Roman"/>
              <a:cs typeface="Times New Roman"/>
            </a:endParaRPr>
          </a:p>
          <a:p>
            <a:pPr marL="0" indent="0">
              <a:buNone/>
            </a:pPr>
            <a:endParaRPr lang="en-GB" sz="2200">
              <a:cs typeface="Calibri" panose="020F0502020204030204"/>
            </a:endParaRPr>
          </a:p>
        </p:txBody>
      </p:sp>
      <p:pic>
        <p:nvPicPr>
          <p:cNvPr id="4" name="Picture 3">
            <a:extLst>
              <a:ext uri="{FF2B5EF4-FFF2-40B4-BE49-F238E27FC236}">
                <a16:creationId xmlns:a16="http://schemas.microsoft.com/office/drawing/2014/main" id="{4AC63C0F-DE92-66FC-E517-B724A17EA0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47350" y="203535"/>
            <a:ext cx="1384300" cy="990600"/>
          </a:xfrm>
          <a:prstGeom prst="rect">
            <a:avLst/>
          </a:prstGeom>
        </p:spPr>
      </p:pic>
    </p:spTree>
    <p:extLst>
      <p:ext uri="{BB962C8B-B14F-4D97-AF65-F5344CB8AC3E}">
        <p14:creationId xmlns:p14="http://schemas.microsoft.com/office/powerpoint/2010/main" val="3188686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3EAAA5F-2A52-37CB-8BBD-254D0B58A9EC}"/>
              </a:ext>
            </a:extLst>
          </p:cNvPr>
          <p:cNvSpPr>
            <a:spLocks noGrp="1"/>
          </p:cNvSpPr>
          <p:nvPr>
            <p:ph type="ctrTitle"/>
          </p:nvPr>
        </p:nvSpPr>
        <p:spPr>
          <a:xfrm>
            <a:off x="1524003" y="1999615"/>
            <a:ext cx="9144000" cy="2764028"/>
          </a:xfrm>
        </p:spPr>
        <p:txBody>
          <a:bodyPr anchor="ctr">
            <a:normAutofit/>
          </a:bodyPr>
          <a:lstStyle/>
          <a:p>
            <a:r>
              <a:rPr lang="en-GB" sz="7200">
                <a:cs typeface="Calibri Light"/>
              </a:rPr>
              <a:t>Thank you</a:t>
            </a:r>
            <a:endParaRPr lang="en-GB" sz="7200"/>
          </a:p>
        </p:txBody>
      </p:sp>
      <p:sp>
        <p:nvSpPr>
          <p:cNvPr id="3" name="Subtitle 2">
            <a:extLst>
              <a:ext uri="{FF2B5EF4-FFF2-40B4-BE49-F238E27FC236}">
                <a16:creationId xmlns:a16="http://schemas.microsoft.com/office/drawing/2014/main" id="{083D3394-CBA6-55A1-296A-462B986B5DBD}"/>
              </a:ext>
            </a:extLst>
          </p:cNvPr>
          <p:cNvSpPr>
            <a:spLocks noGrp="1"/>
          </p:cNvSpPr>
          <p:nvPr>
            <p:ph type="subTitle" idx="1"/>
          </p:nvPr>
        </p:nvSpPr>
        <p:spPr>
          <a:xfrm>
            <a:off x="1966912" y="5645150"/>
            <a:ext cx="8258176" cy="631825"/>
          </a:xfrm>
        </p:spPr>
        <p:txBody>
          <a:bodyPr anchor="ctr">
            <a:normAutofit/>
          </a:bodyPr>
          <a:lstStyle/>
          <a:p>
            <a:endParaRPr lang="en-GB" sz="2800"/>
          </a:p>
        </p:txBody>
      </p:sp>
      <p:sp>
        <p:nvSpPr>
          <p:cNvPr id="14" name="Rectangle 13">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BEBCBA57-2E34-66D0-6618-B70FF03AED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47350" y="203535"/>
            <a:ext cx="1384300" cy="990600"/>
          </a:xfrm>
          <a:prstGeom prst="rect">
            <a:avLst/>
          </a:prstGeom>
        </p:spPr>
      </p:pic>
    </p:spTree>
    <p:extLst>
      <p:ext uri="{BB962C8B-B14F-4D97-AF65-F5344CB8AC3E}">
        <p14:creationId xmlns:p14="http://schemas.microsoft.com/office/powerpoint/2010/main" val="229366129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86</TotalTime>
  <Words>350</Words>
  <Application>Microsoft Macintosh PowerPoint</Application>
  <PresentationFormat>Widescreen</PresentationFormat>
  <Paragraphs>54</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Times New Roman</vt:lpstr>
      <vt:lpstr>office theme</vt:lpstr>
      <vt:lpstr>AI-Portrait classification   Supervisor:- Ms. Shaveta Arora</vt:lpstr>
      <vt:lpstr>INTRODUCTION</vt:lpstr>
      <vt:lpstr>Literature survey</vt:lpstr>
      <vt:lpstr>NEED OF AI GENERATED PORTRAIT CLASSIFICATION</vt:lpstr>
      <vt:lpstr>Proposed Technique</vt:lpstr>
      <vt:lpstr>CNN</vt:lpstr>
      <vt:lpstr>Resnet</vt:lpstr>
      <vt:lpstr>VGG</vt:lpstr>
      <vt:lpstr>Challenges and Issues</vt:lpstr>
      <vt:lpstr>Dataset</vt:lpstr>
      <vt:lpstr>CNN</vt:lpstr>
      <vt:lpstr>Resnet</vt:lpstr>
      <vt:lpstr>VGG</vt:lpstr>
      <vt:lpstr>CNN(Bigger data)</vt:lpstr>
      <vt:lpstr>PowerPoint Presentation</vt:lpstr>
      <vt:lpstr>Conclusion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sahir20csu092</cp:lastModifiedBy>
  <cp:revision>392</cp:revision>
  <dcterms:created xsi:type="dcterms:W3CDTF">2023-11-29T07:29:30Z</dcterms:created>
  <dcterms:modified xsi:type="dcterms:W3CDTF">2024-05-29T06:18:50Z</dcterms:modified>
</cp:coreProperties>
</file>